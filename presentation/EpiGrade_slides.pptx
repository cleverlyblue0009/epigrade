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7537a7fa-7ad4-d722-e206-b2e5450fd9eb}">
          <p14:sldIdLst>
            <p14:sldId id="256"/>
            <p14:sldId id="257"/>
            <p14:sldId id="258"/>
            <p14:sldId id="259"/>
          </p14:sldIdLst>
        </p14:section>
        <p14:section name="What we built" id="{904a8bb3-f2db-7946-ec8b-b4c1ad6152bb}">
          <p14:sldIdLst>
            <p14:sldId id="260"/>
            <p14:sldId id="261"/>
            <p14:sldId id="262"/>
          </p14:sldIdLst>
        </p14:section>
        <p14:section name="Findings" id="{96729480-2a5c-9ed3-6dbf-2930f62f9dba}">
          <p14:sldIdLst>
            <p14:sldId id="263"/>
            <p14:sldId id="264"/>
            <p14:sldId id="265"/>
            <p14:sldId id="266"/>
          </p14:sldIdLst>
        </p14:section>
        <p14:section name="Identification engine" id="{96405a75-17e8-0e4d-cc9b-9d4a768ffb94}">
          <p14:sldIdLst>
            <p14:sldId id="267"/>
            <p14:sldId id="268"/>
          </p14:sldIdLst>
        </p14:section>
        <p14:section name="Honest accounting" id="{993c2f5e-3d36-6672-848c-514542a758a2}">
          <p14:sldIdLst>
            <p14:sldId id="269"/>
            <p14:sldId id="270"/>
          </p14:sldIdLst>
        </p14:section>
        <p14:section name="Close" id="{baa2b1e0-de7e-dcaa-30b9-c7c94e3d31ec}">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Other disorders' cases flagged, by classifier</a:t>
            </a:r>
          </a:p>
        </c:rich>
      </c:tx>
      <c:layout/>
      <c:overlay val="0"/>
    </c:title>
    <c:autoTitleDeleted val="0"/>
    <c:plotArea>
      <c:layout/>
      <c:barChart>
        <c:barDir val="bar"/>
        <c:grouping val="clustered"/>
        <c:varyColors val="0"/>
        <c:ser>
          <c:idx val="0"/>
          <c:order val="0"/>
          <c:tx>
            <c:strRef>
              <c:f>Sheet1!$B$1</c:f>
              <c:strCache>
                <c:ptCount val="1"/>
                <c:pt idx="0">
                  <c:v>Mean fraction of other disorders' cases flagged</c:v>
                </c:pt>
              </c:strCache>
            </c:strRef>
          </c:tx>
          <c:spPr>
            <a:solidFill>
              <a:srgbClr val="2A78D6"/>
            </a:solidFill>
            <a:effectLst/>
          </c:spPr>
          <c:invertIfNegative val="0"/>
          <c:dLbls>
            <c:numFmt formatCode="0%" sourceLinked="0"/>
            <c:txPr>
              <a:bodyPr/>
              <a:lstStyle/>
              <a:p>
                <a:pPr>
                  <a:defRPr b="0" i="0" strike="noStrike" sz="14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2A78D6"/>
              </a:solidFill>
              <a:effectLst/>
            </c:spPr>
          </c:dPt>
          <c:dPt>
            <c:idx val="7"/>
            <c:invertIfNegative val="0"/>
            <c:bubble3D val="0"/>
            <c:spPr>
              <a:solidFill>
                <a:srgbClr val="2A78D6"/>
              </a:solidFill>
              <a:effectLst/>
            </c:spPr>
          </c:dPt>
          <c:dPt>
            <c:idx val="8"/>
            <c:invertIfNegative val="0"/>
            <c:bubble3D val="0"/>
            <c:spPr>
              <a:solidFill>
                <a:srgbClr val="EB6834"/>
              </a:solidFill>
              <a:effectLst/>
            </c:spPr>
          </c:dPt>
          <c:dPt>
            <c:idx val="9"/>
            <c:invertIfNegative val="0"/>
            <c:bubble3D val="0"/>
            <c:spPr>
              <a:solidFill>
                <a:srgbClr val="EB6834"/>
              </a:solidFill>
              <a:effectLst/>
            </c:spPr>
          </c:dPt>
          <c:cat>
            <c:multiLvlStrRef>
              <c:f>Sheet1!$A$2:$A$11</c:f>
              <c:multiLvlStrCache>
                <c:ptCount val="10"/>
                <c:lvl>
                  <c:pt idx="0">
                    <c:v>Sotos</c:v>
                  </c:pt>
                  <c:pt idx="1">
                    <c:v>ICF</c:v>
                  </c:pt>
                  <c:pt idx="2">
                    <c:v>Kabuki</c:v>
                  </c:pt>
                  <c:pt idx="3">
                    <c:v>Silver-Russell</c:v>
                  </c:pt>
                  <c:pt idx="4">
                    <c:v>7q11.23 dup</c:v>
                  </c:pt>
                  <c:pt idx="5">
                    <c:v>Williams</c:v>
                  </c:pt>
                  <c:pt idx="6">
                    <c:v>CHARGE</c:v>
                  </c:pt>
                  <c:pt idx="7">
                    <c:v>Down</c:v>
                  </c:pt>
                  <c:pt idx="8">
                    <c:v>Nicolaides-Baraitser</c:v>
                  </c:pt>
                  <c:pt idx="9">
                    <c:v>Coffin-Siris</c:v>
                  </c:pt>
                </c:lvl>
              </c:multiLvlStrCache>
            </c:multiLvlStrRef>
          </c:cat>
          <c:val>
            <c:numRef>
              <c:f>Sheet1!$B$2:$B$11</c:f>
              <c:numCache>
                <c:formatCode>General</c:formatCode>
                <c:ptCount val="10"/>
                <c:pt idx="0">
                  <c:v>0</c:v>
                </c:pt>
                <c:pt idx="1">
                  <c:v>0</c:v>
                </c:pt>
                <c:pt idx="2">
                  <c:v>0.019666666666666666</c:v>
                </c:pt>
                <c:pt idx="3">
                  <c:v>0.05366666666666667</c:v>
                </c:pt>
                <c:pt idx="4">
                  <c:v>0.06244444444444445</c:v>
                </c:pt>
                <c:pt idx="5">
                  <c:v>0.06433333333333333</c:v>
                </c:pt>
                <c:pt idx="6">
                  <c:v>0.33122222222222225</c:v>
                </c:pt>
                <c:pt idx="7">
                  <c:v>0.4224444444444445</c:v>
                </c:pt>
                <c:pt idx="8">
                  <c:v>0.5974444444444444</c:v>
                </c:pt>
                <c:pt idx="9">
                  <c:v>0.7637777777777779</c:v>
                </c:pt>
              </c:numCache>
            </c:numRef>
          </c:val>
        </c:ser>
        <c:dLbls>
          <c:numFmt formatCode="0%" sourceLinked="0"/>
          <c:txPr>
            <a:bodyPr/>
            <a:lstStyle/>
            <a:p>
              <a:pPr>
                <a:defRPr b="0" i="0" strike="noStrike" sz="14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D4A6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4E3DF"/>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3D4A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Upasana, Samhitaa and Divyanjali from VIT Vellore. Our project is called EpiGrade. It checks, using only public data, how far a new kind of genetic test can be trusted. We will show what we built, three things we found, and a live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patient. A child has a developmental disorder, and doctors read the child's DNA to find the cause. Often they find a change that is rare and sits in a sensible gene, but nobody can say whether it causes disease. That result is called a variant of uncertain significance. For the family it means no diagnosis and no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second way to test. Some disease genes control small chemical tags on DNA, a process called methylation. When one of these genes stops working, the pattern of tags across the genome changes in a characteristic way. That pattern is called an episignature. If a patient with an unclear variant shows the pattern, the variant is probably harmful, and if not, it is probably harmless.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catch. These tests are validated against one private reference database, and laboratories outside cannot inspect it. One study reported 34 signatures across 42 syndromes. But when an independent French group re-tested ten published signatures with new patients, two of them detected fewer than 40 percent of cases. So we asked how much can be confirmed using only data that anyone can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four things. First, a collection of public samples where every sample we excluded has a written reason. Second, signatures for ten disorders: one published signature that we reproduced, and nine that we derived ourselves under a single fixed rule. Third, an audit that tests each signature across studies and against every other disorder, and converts scores into evidence strength. Fourth, a tool where anyone can upload their own signature and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auditing anything, we had to show our pipeline is correct. The Sotos syndrome signature, published by Choufani and colleagues in 2015, comes with its full probe list, its scoring rule and its data. We rebuilt it from the public files. Every case scores above zero and every control below zero, exactly as published. Each sample was scored against profiles built without it, so the result is not inflated.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four things against the paper. Cases and controls separate. Eight patients with Weaver syndrome, which looks similar but has a different cause, all score negative. Sixteen unclear variants in the NSD1 gene split nine positive and seven negative, exactly as published. And nineteen cases that were never used to build the classifier all score positive. All four checks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finding is about the data itself. Of twelve disorders, seven have all their cases in a single study. In that situation a difference between cases and controls could be the disease, or it could just be how that laboratory processed its samples, and we cannot tell which. Two more disorders have fewer than ten cases, which is too few to build anything. Only three disorders have cases in two independent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test is to build a signature in one study and try it in another. This is called leave-one-study-out. Three disorders were eligible, which gives six possible directions. We want to be plain about this: only one of the six could be computed. That one test found five of eighteen held-out cases. Kabuki syndrome and Nicolaides-Baraitser syndrome have no cross-study result at all, because one study alone did not have enough samples to build a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we scored every classifier against every disorder and against 273 healthy controls. A good classifier lights up only its own square on the diagonal. The CHARGE syndrome classifier also flags about 38 percent of Kabuki syndrome cases. Now look at the two rows outlined in orange. They light up almost everywhere. Those two classifiers were trained against controls from a different dataset, and the next slide shows what that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in one comparison. When a classifier's controls come from its own dataset, it wrongly flags about 12 percent of patients who have a different disorder. When the controls come from another dataset, it flags about 68 percent. The two orange bars are Coffin-Siris and Nicolaides-Baraitser, whose source study deposited no controls. They learned to tell two laboratories apart, not to detect a disease. We keep them in the benchmark as a warning, not as signatures. One caution: both borrowed the same controls, so this is one problem seen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our supervisor asked for. A laboratory uploads its own list of probes, and the engine searches all twelve disorders. We tested it with five signatures made from real data. The real Sotos probes identify Sotos, even when we flip every direction, which the tool flags. Five hundred random probes give no match. That last one is a finding about method. By the usual measure, the area under the curve or AUC, random probes score a perfect 1.0 on Williams syndrome and pass the usual threshold on seven of twelve cohorts. So AUC alone would have named a disorder for a random list. What makes the tool say no match is a second test: the probes must beat a thousand random probe sets. Also note the twenty-probe signature is capped at a lower evidence ceiling than the five-hundred-probe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page itself, and we will now show it live. You upload a probe list or choose one of the five examples. It reports how many probes exist on each array type, then the verdict, and it always says how many disorders it searched. Here it identifies Sotos syndrome and warns that the match is within a single study. The page runs offline and only ever takes probe identifiers, never patient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exact about our contribution. The calibration method is not ours: it follows Pejaver and colleagues, and a general package already exists. Testing one disorder against another is routine inside the private database. Using a language model to read dataset labels has published benchmarks. What is ours is that every result can be regenerated from public data with one command, the audit itself, and the identification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tell you the weaknesses ourselves. Only one of six cross-study directions was computed, and it is based on only eighteen cases and six controls. We are not claiming that three disorders were tested across studies. Scores on a classifier's own disorder are optimistic, because the probes were chosen using those same samples. And our label check compares two computer-written rule sets, so a human review is still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Results measured inside one study look far stronger than public data can confirm. Only one cross-study test in six could be run, and two of the three eligible disorders were never tested across studies. Classifiers built with borrowed controls flagged about two thirds of unrelated patients. The fix is not a new method. It is data: the same disorder deposited by more than one site, each with its own controls. Everything we showed can be regenerated with the one command on this slide.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backup slide is for questions on method. The scoring rule is the published one: correlation with the case profile minus correlation with the control profile. Signatures use a Mann-Whitney test with a false discovery rate of five percent and a ten percent difference floor, and that threshold was changed exactly once. All data come from the Gene Expression Omnibus, a public archive, under the accession numbers listed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1672"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200" dirty="0">
                <a:solidFill>
                  <a:srgbClr val="8A8984"/>
                </a:solidFill>
              </a:rPr>
              <a:t>EpiGrade  |  research tool, not for patient use</a:t>
            </a:r>
            <a:endParaRPr lang="en-US" sz="12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1672" cy="1737360"/>
          </a:xfrm>
          <a:prstGeom prst="rect">
            <a:avLst/>
          </a:prstGeom>
          <a:noFill/>
          <a:ln/>
        </p:spPr>
        <p:txBody>
          <a:bodyPr wrap="square" lIns="0" tIns="0" rIns="0" bIns="0" rtlCol="0" anchor="t"/>
          <a:lstStyle/>
          <a:p>
            <a:pPr algn="l" indent="0" marL="0">
              <a:buNone/>
            </a:pPr>
            <a:r>
              <a:rPr lang="en-US" sz="4400" b="1" dirty="0">
                <a:solidFill>
                  <a:schemeClr val="bg1"/>
                </a:solidFill>
              </a:rPr>
              <a:t>EpiGrade</a:t>
            </a:r>
            <a:endParaRPr lang="en-US" sz="4400" dirty="0"/>
          </a:p>
        </p:txBody>
      </p:sp>
      <p:sp>
        <p:nvSpPr>
          <p:cNvPr id="3" name="Text 1"/>
          <p:cNvSpPr txBox="1"/>
          <p:nvPr/>
        </p:nvSpPr>
        <p:spPr>
          <a:xfrm>
            <a:off x="548640" y="3063240"/>
            <a:ext cx="9601200" cy="1097280"/>
          </a:xfrm>
          <a:prstGeom prst="rect">
            <a:avLst/>
          </a:prstGeom>
          <a:noFill/>
          <a:ln/>
        </p:spPr>
        <p:txBody>
          <a:bodyPr wrap="square" lIns="0" tIns="0" rIns="0" bIns="0" rtlCol="0" anchor="t"/>
          <a:lstStyle/>
          <a:p>
            <a:pPr indent="0" marL="0">
              <a:buNone/>
            </a:pPr>
            <a:r>
              <a:rPr lang="en-US" sz="2800" dirty="0">
                <a:solidFill>
                  <a:schemeClr val="bg2"/>
                </a:solidFill>
              </a:rPr>
              <a:t>An open, reproducible benchmark for DNA methylation episignature classifiers</a:t>
            </a:r>
            <a:endParaRPr lang="en-US" sz="2800" dirty="0"/>
          </a:p>
        </p:txBody>
      </p:sp>
      <p:sp>
        <p:nvSpPr>
          <p:cNvPr id="4" name="Text 2"/>
          <p:cNvSpPr txBox="1"/>
          <p:nvPr/>
        </p:nvSpPr>
        <p:spPr>
          <a:xfrm>
            <a:off x="548640" y="4480560"/>
            <a:ext cx="6400800" cy="1371600"/>
          </a:xfrm>
          <a:prstGeom prst="rect">
            <a:avLst/>
          </a:prstGeom>
          <a:noFill/>
          <a:ln/>
        </p:spPr>
        <p:txBody>
          <a:bodyPr wrap="square" lIns="0" tIns="0" rIns="0" bIns="0" rtlCol="0" anchor="t"/>
          <a:lstStyle/>
          <a:p>
            <a:pPr indent="0" marL="0">
              <a:buNone/>
            </a:pPr>
            <a:r>
              <a:rPr lang="en-US" sz="2200" dirty="0">
                <a:solidFill>
                  <a:schemeClr val="bg1"/>
                </a:solidFill>
              </a:rPr>
              <a:t>Upasana Bhaumik (23BCB0074)</a:t>
            </a:r>
            <a:endParaRPr lang="en-US" sz="2200" dirty="0"/>
          </a:p>
          <a:p>
            <a:pPr indent="0" marL="0">
              <a:buNone/>
            </a:pPr>
            <a:r>
              <a:rPr lang="en-US" sz="2200" dirty="0">
                <a:solidFill>
                  <a:schemeClr val="bg1"/>
                </a:solidFill>
              </a:rPr>
              <a:t>Samhitaa Saravanakumar (23BCB0125)</a:t>
            </a:r>
            <a:endParaRPr lang="en-US" sz="2200" dirty="0"/>
          </a:p>
          <a:p>
            <a:pPr indent="0" marL="0">
              <a:buNone/>
            </a:pPr>
            <a:r>
              <a:rPr lang="en-US" sz="2200" dirty="0">
                <a:solidFill>
                  <a:schemeClr val="bg1"/>
                </a:solidFill>
              </a:rPr>
              <a:t>Divyanjali Tyagi (23BCB0123)</a:t>
            </a:r>
            <a:endParaRPr lang="en-US" sz="2200" dirty="0"/>
          </a:p>
        </p:txBody>
      </p:sp>
      <p:sp>
        <p:nvSpPr>
          <p:cNvPr id="5" name="Text 3"/>
          <p:cNvSpPr txBox="1"/>
          <p:nvPr/>
        </p:nvSpPr>
        <p:spPr>
          <a:xfrm>
            <a:off x="548640" y="5943600"/>
            <a:ext cx="8229600" cy="411480"/>
          </a:xfrm>
          <a:prstGeom prst="rect">
            <a:avLst/>
          </a:prstGeom>
          <a:noFill/>
          <a:ln/>
        </p:spPr>
        <p:txBody>
          <a:bodyPr wrap="square" lIns="0" tIns="0" rIns="0" bIns="0" rtlCol="0" anchor="t"/>
          <a:lstStyle/>
          <a:p>
            <a:pPr indent="0" marL="0">
              <a:buNone/>
            </a:pPr>
            <a:r>
              <a:rPr lang="en-US" sz="2000" dirty="0">
                <a:solidFill>
                  <a:schemeClr val="bg2"/>
                </a:solidFill>
              </a:rPr>
              <a:t>Vellore Institute of Technology (VIT), Vellore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A child, a DNA change, and no answer</a:t>
            </a:r>
            <a:endParaRPr lang="en-US" sz="3600" dirty="0"/>
          </a:p>
        </p:txBody>
      </p:sp>
      <p:sp>
        <p:nvSpPr>
          <p:cNvPr id="3" name="step 1"/>
          <p:cNvSpPr/>
          <p:nvPr/>
        </p:nvSpPr>
        <p:spPr>
          <a:xfrm>
            <a:off x="548640" y="1600200"/>
            <a:ext cx="3474720" cy="3931920"/>
          </a:xfrm>
          <a:prstGeom prst="roundRect">
            <a:avLst>
              <a:gd name="adj" fmla="val 2105"/>
            </a:avLst>
          </a:prstGeom>
          <a:solidFill>
            <a:schemeClr val="bg2"/>
          </a:solidFill>
          <a:ln w="12700">
            <a:solidFill>
              <a:schemeClr val="bg2"/>
            </a:solidFill>
            <a:prstDash val="solid"/>
          </a:ln>
        </p:spPr>
      </p:sp>
      <p:sp>
        <p:nvSpPr>
          <p:cNvPr id="4" name="step 1 badge"/>
          <p:cNvSpPr/>
          <p:nvPr/>
        </p:nvSpPr>
        <p:spPr>
          <a:xfrm>
            <a:off x="822960" y="1874520"/>
            <a:ext cx="822960" cy="822960"/>
          </a:xfrm>
          <a:prstGeom prst="ellipse">
            <a:avLst/>
          </a:prstGeom>
          <a:solidFill>
            <a:schemeClr val="accent1"/>
          </a:solidFill>
          <a:ln w="12700">
            <a:solidFill>
              <a:schemeClr val="bg2"/>
            </a:solidFill>
            <a:prstDash val="solid"/>
          </a:ln>
        </p:spPr>
      </p:sp>
      <p:sp>
        <p:nvSpPr>
          <p:cNvPr id="5" name="Text 3"/>
          <p:cNvSpPr txBox="1"/>
          <p:nvPr/>
        </p:nvSpPr>
        <p:spPr>
          <a:xfrm>
            <a:off x="822960" y="187452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6" name="Text 4"/>
          <p:cNvSpPr txBox="1"/>
          <p:nvPr/>
        </p:nvSpPr>
        <p:spPr>
          <a:xfrm>
            <a:off x="822960" y="2880360"/>
            <a:ext cx="2926080" cy="822960"/>
          </a:xfrm>
          <a:prstGeom prst="rect">
            <a:avLst/>
          </a:prstGeom>
          <a:noFill/>
          <a:ln/>
        </p:spPr>
        <p:txBody>
          <a:bodyPr wrap="square" lIns="0" tIns="0" rIns="0" bIns="0" rtlCol="0" anchor="t"/>
          <a:lstStyle/>
          <a:p>
            <a:pPr indent="0" marL="0">
              <a:buNone/>
            </a:pPr>
            <a:r>
              <a:rPr lang="en-US" sz="2400" b="1" dirty="0">
                <a:solidFill>
                  <a:schemeClr val="tx1"/>
                </a:solidFill>
              </a:rPr>
              <a:t>A child has a disorder</a:t>
            </a:r>
            <a:endParaRPr lang="en-US" sz="2400" dirty="0"/>
          </a:p>
        </p:txBody>
      </p:sp>
      <p:sp>
        <p:nvSpPr>
          <p:cNvPr id="7" name="Text 5"/>
          <p:cNvSpPr txBox="1"/>
          <p:nvPr/>
        </p:nvSpPr>
        <p:spPr>
          <a:xfrm>
            <a:off x="822960" y="3840480"/>
            <a:ext cx="2926080" cy="1554480"/>
          </a:xfrm>
          <a:prstGeom prst="rect">
            <a:avLst/>
          </a:prstGeom>
          <a:noFill/>
          <a:ln/>
        </p:spPr>
        <p:txBody>
          <a:bodyPr wrap="square" lIns="0" tIns="0" rIns="0" bIns="0" rtlCol="0" anchor="t"/>
          <a:lstStyle/>
          <a:p>
            <a:pPr indent="0" marL="0">
              <a:buNone/>
            </a:pPr>
            <a:r>
              <a:rPr lang="en-US" sz="2000" dirty="0">
                <a:solidFill>
                  <a:schemeClr val="tx2"/>
                </a:solidFill>
              </a:rPr>
              <a:t>Doctors suspect a genetic cause and sequence the child's DNA.</a:t>
            </a:r>
            <a:endParaRPr lang="en-US" sz="2000" dirty="0"/>
          </a:p>
        </p:txBody>
      </p:sp>
      <p:sp>
        <p:nvSpPr>
          <p:cNvPr id="8" name="step 2"/>
          <p:cNvSpPr/>
          <p:nvPr/>
        </p:nvSpPr>
        <p:spPr>
          <a:xfrm>
            <a:off x="4297680" y="1600200"/>
            <a:ext cx="3474720" cy="3931920"/>
          </a:xfrm>
          <a:prstGeom prst="roundRect">
            <a:avLst>
              <a:gd name="adj" fmla="val 2105"/>
            </a:avLst>
          </a:prstGeom>
          <a:solidFill>
            <a:schemeClr val="bg2"/>
          </a:solidFill>
          <a:ln w="12700">
            <a:solidFill>
              <a:schemeClr val="bg2"/>
            </a:solidFill>
            <a:prstDash val="solid"/>
          </a:ln>
        </p:spPr>
      </p:sp>
      <p:sp>
        <p:nvSpPr>
          <p:cNvPr id="9" name="step 2 badge"/>
          <p:cNvSpPr/>
          <p:nvPr/>
        </p:nvSpPr>
        <p:spPr>
          <a:xfrm>
            <a:off x="4572000" y="1874520"/>
            <a:ext cx="822960" cy="822960"/>
          </a:xfrm>
          <a:prstGeom prst="ellipse">
            <a:avLst/>
          </a:prstGeom>
          <a:solidFill>
            <a:schemeClr val="accent1"/>
          </a:solidFill>
          <a:ln w="12700">
            <a:solidFill>
              <a:schemeClr val="bg2"/>
            </a:solidFill>
            <a:prstDash val="solid"/>
          </a:ln>
        </p:spPr>
      </p:sp>
      <p:sp>
        <p:nvSpPr>
          <p:cNvPr id="10" name="Text 8"/>
          <p:cNvSpPr txBox="1"/>
          <p:nvPr/>
        </p:nvSpPr>
        <p:spPr>
          <a:xfrm>
            <a:off x="4572000" y="187452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11" name="Text 9"/>
          <p:cNvSpPr txBox="1"/>
          <p:nvPr/>
        </p:nvSpPr>
        <p:spPr>
          <a:xfrm>
            <a:off x="4572000" y="2880360"/>
            <a:ext cx="2926080" cy="822960"/>
          </a:xfrm>
          <a:prstGeom prst="rect">
            <a:avLst/>
          </a:prstGeom>
          <a:noFill/>
          <a:ln/>
        </p:spPr>
        <p:txBody>
          <a:bodyPr wrap="square" lIns="0" tIns="0" rIns="0" bIns="0" rtlCol="0" anchor="t"/>
          <a:lstStyle/>
          <a:p>
            <a:pPr indent="0" marL="0">
              <a:buNone/>
            </a:pPr>
            <a:r>
              <a:rPr lang="en-US" sz="2400" b="1" dirty="0">
                <a:solidFill>
                  <a:schemeClr val="tx1"/>
                </a:solidFill>
              </a:rPr>
              <a:t>Sequencing finds a rare change</a:t>
            </a:r>
            <a:endParaRPr lang="en-US" sz="2400" dirty="0"/>
          </a:p>
        </p:txBody>
      </p:sp>
      <p:sp>
        <p:nvSpPr>
          <p:cNvPr id="12" name="Text 10"/>
          <p:cNvSpPr txBox="1"/>
          <p:nvPr/>
        </p:nvSpPr>
        <p:spPr>
          <a:xfrm>
            <a:off x="4572000" y="3840480"/>
            <a:ext cx="2926080" cy="1554480"/>
          </a:xfrm>
          <a:prstGeom prst="rect">
            <a:avLst/>
          </a:prstGeom>
          <a:noFill/>
          <a:ln/>
        </p:spPr>
        <p:txBody>
          <a:bodyPr wrap="square" lIns="0" tIns="0" rIns="0" bIns="0" rtlCol="0" anchor="t"/>
          <a:lstStyle/>
          <a:p>
            <a:pPr indent="0" marL="0">
              <a:buNone/>
            </a:pPr>
            <a:r>
              <a:rPr lang="en-US" sz="2000" dirty="0">
                <a:solidFill>
                  <a:schemeClr val="tx2"/>
                </a:solidFill>
              </a:rPr>
              <a:t>It sits in a plausible gene, but nobody has seen it before.</a:t>
            </a:r>
            <a:endParaRPr lang="en-US" sz="2000" dirty="0"/>
          </a:p>
        </p:txBody>
      </p:sp>
      <p:sp>
        <p:nvSpPr>
          <p:cNvPr id="13" name="step 3"/>
          <p:cNvSpPr/>
          <p:nvPr/>
        </p:nvSpPr>
        <p:spPr>
          <a:xfrm>
            <a:off x="8046720" y="1600200"/>
            <a:ext cx="3474720" cy="3931920"/>
          </a:xfrm>
          <a:prstGeom prst="roundRect">
            <a:avLst>
              <a:gd name="adj" fmla="val 2105"/>
            </a:avLst>
          </a:prstGeom>
          <a:solidFill>
            <a:schemeClr val="bg2"/>
          </a:solidFill>
          <a:ln w="12700">
            <a:solidFill>
              <a:schemeClr val="bg2"/>
            </a:solidFill>
            <a:prstDash val="solid"/>
          </a:ln>
        </p:spPr>
      </p:sp>
      <p:sp>
        <p:nvSpPr>
          <p:cNvPr id="14" name="step 3 badge"/>
          <p:cNvSpPr/>
          <p:nvPr/>
        </p:nvSpPr>
        <p:spPr>
          <a:xfrm>
            <a:off x="8321040" y="1874520"/>
            <a:ext cx="822960" cy="822960"/>
          </a:xfrm>
          <a:prstGeom prst="ellipse">
            <a:avLst/>
          </a:prstGeom>
          <a:solidFill>
            <a:schemeClr val="accent2"/>
          </a:solidFill>
          <a:ln w="12700">
            <a:solidFill>
              <a:schemeClr val="bg2"/>
            </a:solidFill>
            <a:prstDash val="solid"/>
          </a:ln>
        </p:spPr>
      </p:sp>
      <p:sp>
        <p:nvSpPr>
          <p:cNvPr id="15" name="Text 13"/>
          <p:cNvSpPr txBox="1"/>
          <p:nvPr/>
        </p:nvSpPr>
        <p:spPr>
          <a:xfrm>
            <a:off x="8321040" y="187452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6" name="Text 14"/>
          <p:cNvSpPr txBox="1"/>
          <p:nvPr/>
        </p:nvSpPr>
        <p:spPr>
          <a:xfrm>
            <a:off x="8321040" y="2880360"/>
            <a:ext cx="2926080" cy="822960"/>
          </a:xfrm>
          <a:prstGeom prst="rect">
            <a:avLst/>
          </a:prstGeom>
          <a:noFill/>
          <a:ln/>
        </p:spPr>
        <p:txBody>
          <a:bodyPr wrap="square" lIns="0" tIns="0" rIns="0" bIns="0" rtlCol="0" anchor="t"/>
          <a:lstStyle/>
          <a:p>
            <a:pPr indent="0" marL="0">
              <a:buNone/>
            </a:pPr>
            <a:r>
              <a:rPr lang="en-US" sz="2400" b="1" dirty="0">
                <a:solidFill>
                  <a:schemeClr val="tx1"/>
                </a:solidFill>
              </a:rPr>
              <a:t>The lab cannot interpret it</a:t>
            </a:r>
            <a:endParaRPr lang="en-US" sz="2400" dirty="0"/>
          </a:p>
        </p:txBody>
      </p:sp>
      <p:sp>
        <p:nvSpPr>
          <p:cNvPr id="17" name="Text 15"/>
          <p:cNvSpPr txBox="1"/>
          <p:nvPr/>
        </p:nvSpPr>
        <p:spPr>
          <a:xfrm>
            <a:off x="8321040" y="3840480"/>
            <a:ext cx="2926080" cy="1554480"/>
          </a:xfrm>
          <a:prstGeom prst="rect">
            <a:avLst/>
          </a:prstGeom>
          <a:noFill/>
          <a:ln/>
        </p:spPr>
        <p:txBody>
          <a:bodyPr wrap="square" lIns="0" tIns="0" rIns="0" bIns="0" rtlCol="0" anchor="t"/>
          <a:lstStyle/>
          <a:p>
            <a:pPr indent="0" marL="0">
              <a:buNone/>
            </a:pPr>
            <a:r>
              <a:rPr lang="en-US" sz="2000" dirty="0">
                <a:solidFill>
                  <a:schemeClr val="tx2"/>
                </a:solidFill>
              </a:rPr>
              <a:t>It is reported as a variant of uncertain significance. The family gets no answer.</a:t>
            </a:r>
            <a:endParaRPr lang="en-US" sz="2000" dirty="0"/>
          </a:p>
        </p:txBody>
      </p:sp>
      <p:sp>
        <p:nvSpPr>
          <p:cNvPr id="18" name="Text 16"/>
          <p:cNvSpPr txBox="1"/>
          <p:nvPr/>
        </p:nvSpPr>
        <p:spPr>
          <a:xfrm>
            <a:off x="548640" y="5715000"/>
            <a:ext cx="11091672" cy="457200"/>
          </a:xfrm>
          <a:prstGeom prst="rect">
            <a:avLst/>
          </a:prstGeom>
          <a:noFill/>
          <a:ln/>
        </p:spPr>
        <p:txBody>
          <a:bodyPr wrap="square" lIns="0" tIns="0" rIns="0" bIns="0" rtlCol="0" anchor="t"/>
          <a:lstStyle/>
          <a:p>
            <a:pPr indent="0" marL="0">
              <a:buNone/>
            </a:pPr>
            <a:r>
              <a:rPr lang="en-US" sz="2000" i="1" dirty="0">
                <a:solidFill>
                  <a:schemeClr val="tx2"/>
                </a:solidFill>
              </a:rPr>
              <a:t>An uncertain variant cannot confirm a diagnosis, guide care, or be used to test relatives.</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A second test: the episignature</a:t>
            </a:r>
            <a:endParaRPr lang="en-US" sz="3600" dirty="0"/>
          </a:p>
        </p:txBody>
      </p:sp>
      <p:sp>
        <p:nvSpPr>
          <p:cNvPr id="3" name="Text 1"/>
          <p:cNvSpPr txBox="1"/>
          <p:nvPr/>
        </p:nvSpPr>
        <p:spPr>
          <a:xfrm>
            <a:off x="548640" y="1463040"/>
            <a:ext cx="4937760" cy="2103120"/>
          </a:xfrm>
          <a:prstGeom prst="rect">
            <a:avLst/>
          </a:prstGeom>
          <a:noFill/>
          <a:ln/>
        </p:spPr>
        <p:txBody>
          <a:bodyPr wrap="square" lIns="0" tIns="0" rIns="0" bIns="0" rtlCol="0" anchor="t"/>
          <a:lstStyle/>
          <a:p>
            <a:pPr indent="0" marL="0">
              <a:buNone/>
            </a:pPr>
            <a:r>
              <a:rPr lang="en-US" sz="2200" dirty="0">
                <a:solidFill>
                  <a:schemeClr val="tx1"/>
                </a:solidFill>
              </a:rPr>
              <a:t>Some disease genes control chemical tags on DNA (methylation). When such a gene is broken, the pattern of tags in blood changes in a recognisable way.</a:t>
            </a:r>
            <a:endParaRPr lang="en-US" sz="2200" dirty="0"/>
          </a:p>
        </p:txBody>
      </p:sp>
      <p:sp>
        <p:nvSpPr>
          <p:cNvPr id="4" name="Text 2"/>
          <p:cNvSpPr txBox="1"/>
          <p:nvPr/>
        </p:nvSpPr>
        <p:spPr>
          <a:xfrm>
            <a:off x="548640" y="3840480"/>
            <a:ext cx="4937760" cy="1371600"/>
          </a:xfrm>
          <a:prstGeom prst="rect">
            <a:avLst/>
          </a:prstGeom>
          <a:noFill/>
          <a:ln/>
        </p:spPr>
        <p:txBody>
          <a:bodyPr wrap="square" lIns="0" tIns="0" rIns="0" bIns="0" rtlCol="0" anchor="t"/>
          <a:lstStyle/>
          <a:p>
            <a:pPr indent="0" marL="0">
              <a:buNone/>
            </a:pPr>
            <a:r>
              <a:rPr lang="en-US" sz="2200" b="1" dirty="0">
                <a:solidFill>
                  <a:schemeClr val="accent5"/>
                </a:solidFill>
              </a:rPr>
              <a:t>Pattern present: the variant is probably harmful. Pattern absent: probably harmless.</a:t>
            </a:r>
            <a:endParaRPr lang="en-US" sz="2200" dirty="0"/>
          </a:p>
        </p:txBody>
      </p:sp>
      <p:sp>
        <p:nvSpPr>
          <p:cNvPr id="5" name="diagram panel"/>
          <p:cNvSpPr/>
          <p:nvPr/>
        </p:nvSpPr>
        <p:spPr>
          <a:xfrm>
            <a:off x="5943600" y="1463040"/>
            <a:ext cx="5669280" cy="4754880"/>
          </a:xfrm>
          <a:prstGeom prst="roundRect">
            <a:avLst>
              <a:gd name="adj" fmla="val 1538"/>
            </a:avLst>
          </a:prstGeom>
          <a:solidFill>
            <a:schemeClr val="bg2"/>
          </a:solidFill>
          <a:ln w="12700">
            <a:solidFill>
              <a:schemeClr val="bg2"/>
            </a:solidFill>
            <a:prstDash val="solid"/>
          </a:ln>
        </p:spPr>
      </p:sp>
      <p:sp>
        <p:nvSpPr>
          <p:cNvPr id="6" name="Text 4"/>
          <p:cNvSpPr txBox="1"/>
          <p:nvPr/>
        </p:nvSpPr>
        <p:spPr>
          <a:xfrm>
            <a:off x="6217920" y="1828800"/>
            <a:ext cx="5120640" cy="365760"/>
          </a:xfrm>
          <a:prstGeom prst="rect">
            <a:avLst/>
          </a:prstGeom>
          <a:noFill/>
          <a:ln/>
        </p:spPr>
        <p:txBody>
          <a:bodyPr wrap="square" lIns="0" tIns="0" rIns="0" bIns="0" rtlCol="0" anchor="t"/>
          <a:lstStyle/>
          <a:p>
            <a:pPr indent="0" marL="0">
              <a:buNone/>
            </a:pPr>
            <a:r>
              <a:rPr lang="en-US" sz="2000" b="1" dirty="0">
                <a:solidFill>
                  <a:schemeClr val="tx1"/>
                </a:solidFill>
              </a:rPr>
              <a:t>Healthy control</a:t>
            </a:r>
            <a:endParaRPr lang="en-US" sz="2000" dirty="0"/>
          </a:p>
        </p:txBody>
      </p:sp>
      <p:sp>
        <p:nvSpPr>
          <p:cNvPr id="7" name="dna 0"/>
          <p:cNvSpPr/>
          <p:nvPr/>
        </p:nvSpPr>
        <p:spPr>
          <a:xfrm>
            <a:off x="6217920" y="2578608"/>
            <a:ext cx="5120640" cy="0"/>
          </a:xfrm>
          <a:prstGeom prst="line">
            <a:avLst/>
          </a:prstGeom>
          <a:noFill/>
          <a:ln w="19050">
            <a:solidFill>
              <a:srgbClr val="8A8984"/>
            </a:solidFill>
            <a:prstDash val="solid"/>
          </a:ln>
        </p:spPr>
      </p:sp>
      <p:sp>
        <p:nvSpPr>
          <p:cNvPr id="8" name="site 0-0"/>
          <p:cNvSpPr/>
          <p:nvPr/>
        </p:nvSpPr>
        <p:spPr>
          <a:xfrm>
            <a:off x="6309360" y="2359152"/>
            <a:ext cx="402336" cy="402336"/>
          </a:xfrm>
          <a:prstGeom prst="ellipse">
            <a:avLst/>
          </a:prstGeom>
          <a:solidFill>
            <a:schemeClr val="accent4"/>
          </a:solidFill>
          <a:ln w="25400">
            <a:solidFill>
              <a:schemeClr val="accent4"/>
            </a:solidFill>
            <a:prstDash val="solid"/>
          </a:ln>
        </p:spPr>
      </p:sp>
      <p:sp>
        <p:nvSpPr>
          <p:cNvPr id="9" name="site 0-1"/>
          <p:cNvSpPr/>
          <p:nvPr/>
        </p:nvSpPr>
        <p:spPr>
          <a:xfrm>
            <a:off x="6821424" y="2359152"/>
            <a:ext cx="402336" cy="402336"/>
          </a:xfrm>
          <a:prstGeom prst="ellipse">
            <a:avLst/>
          </a:prstGeom>
          <a:solidFill>
            <a:schemeClr val="accent4"/>
          </a:solidFill>
          <a:ln w="25400">
            <a:solidFill>
              <a:schemeClr val="accent4"/>
            </a:solidFill>
            <a:prstDash val="solid"/>
          </a:ln>
        </p:spPr>
      </p:sp>
      <p:sp>
        <p:nvSpPr>
          <p:cNvPr id="10" name="site 0-2"/>
          <p:cNvSpPr/>
          <p:nvPr/>
        </p:nvSpPr>
        <p:spPr>
          <a:xfrm>
            <a:off x="7333488" y="2359152"/>
            <a:ext cx="402336" cy="402336"/>
          </a:xfrm>
          <a:prstGeom prst="ellipse">
            <a:avLst/>
          </a:prstGeom>
          <a:solidFill>
            <a:schemeClr val="bg1"/>
          </a:solidFill>
          <a:ln w="25400">
            <a:solidFill>
              <a:schemeClr val="accent4"/>
            </a:solidFill>
            <a:prstDash val="solid"/>
          </a:ln>
        </p:spPr>
      </p:sp>
      <p:sp>
        <p:nvSpPr>
          <p:cNvPr id="11" name="site 0-3"/>
          <p:cNvSpPr/>
          <p:nvPr/>
        </p:nvSpPr>
        <p:spPr>
          <a:xfrm>
            <a:off x="7845552" y="2359152"/>
            <a:ext cx="402336" cy="402336"/>
          </a:xfrm>
          <a:prstGeom prst="ellipse">
            <a:avLst/>
          </a:prstGeom>
          <a:solidFill>
            <a:schemeClr val="accent4"/>
          </a:solidFill>
          <a:ln w="25400">
            <a:solidFill>
              <a:schemeClr val="accent4"/>
            </a:solidFill>
            <a:prstDash val="solid"/>
          </a:ln>
        </p:spPr>
      </p:sp>
      <p:sp>
        <p:nvSpPr>
          <p:cNvPr id="12" name="site 0-4"/>
          <p:cNvSpPr/>
          <p:nvPr/>
        </p:nvSpPr>
        <p:spPr>
          <a:xfrm>
            <a:off x="8357616" y="2359152"/>
            <a:ext cx="402336" cy="402336"/>
          </a:xfrm>
          <a:prstGeom prst="ellipse">
            <a:avLst/>
          </a:prstGeom>
          <a:solidFill>
            <a:schemeClr val="accent4"/>
          </a:solidFill>
          <a:ln w="25400">
            <a:solidFill>
              <a:schemeClr val="accent4"/>
            </a:solidFill>
            <a:prstDash val="solid"/>
          </a:ln>
        </p:spPr>
      </p:sp>
      <p:sp>
        <p:nvSpPr>
          <p:cNvPr id="13" name="site 0-5"/>
          <p:cNvSpPr/>
          <p:nvPr/>
        </p:nvSpPr>
        <p:spPr>
          <a:xfrm>
            <a:off x="8869680" y="2359152"/>
            <a:ext cx="402336" cy="402336"/>
          </a:xfrm>
          <a:prstGeom prst="ellipse">
            <a:avLst/>
          </a:prstGeom>
          <a:solidFill>
            <a:schemeClr val="accent4"/>
          </a:solidFill>
          <a:ln w="25400">
            <a:solidFill>
              <a:schemeClr val="accent4"/>
            </a:solidFill>
            <a:prstDash val="solid"/>
          </a:ln>
        </p:spPr>
      </p:sp>
      <p:sp>
        <p:nvSpPr>
          <p:cNvPr id="14" name="site 0-6"/>
          <p:cNvSpPr/>
          <p:nvPr/>
        </p:nvSpPr>
        <p:spPr>
          <a:xfrm>
            <a:off x="9381744" y="2359152"/>
            <a:ext cx="402336" cy="402336"/>
          </a:xfrm>
          <a:prstGeom prst="ellipse">
            <a:avLst/>
          </a:prstGeom>
          <a:solidFill>
            <a:schemeClr val="bg1"/>
          </a:solidFill>
          <a:ln w="25400">
            <a:solidFill>
              <a:schemeClr val="accent4"/>
            </a:solidFill>
            <a:prstDash val="solid"/>
          </a:ln>
        </p:spPr>
      </p:sp>
      <p:sp>
        <p:nvSpPr>
          <p:cNvPr id="15" name="site 0-7"/>
          <p:cNvSpPr/>
          <p:nvPr/>
        </p:nvSpPr>
        <p:spPr>
          <a:xfrm>
            <a:off x="9893808" y="2359152"/>
            <a:ext cx="402336" cy="402336"/>
          </a:xfrm>
          <a:prstGeom prst="ellipse">
            <a:avLst/>
          </a:prstGeom>
          <a:solidFill>
            <a:schemeClr val="accent4"/>
          </a:solidFill>
          <a:ln w="25400">
            <a:solidFill>
              <a:schemeClr val="accent4"/>
            </a:solidFill>
            <a:prstDash val="solid"/>
          </a:ln>
        </p:spPr>
      </p:sp>
      <p:sp>
        <p:nvSpPr>
          <p:cNvPr id="16" name="site 0-8"/>
          <p:cNvSpPr/>
          <p:nvPr/>
        </p:nvSpPr>
        <p:spPr>
          <a:xfrm>
            <a:off x="10405872" y="2359152"/>
            <a:ext cx="402336" cy="402336"/>
          </a:xfrm>
          <a:prstGeom prst="ellipse">
            <a:avLst/>
          </a:prstGeom>
          <a:solidFill>
            <a:schemeClr val="accent4"/>
          </a:solidFill>
          <a:ln w="25400">
            <a:solidFill>
              <a:schemeClr val="accent4"/>
            </a:solidFill>
            <a:prstDash val="solid"/>
          </a:ln>
        </p:spPr>
      </p:sp>
      <p:sp>
        <p:nvSpPr>
          <p:cNvPr id="17" name="site 0-9"/>
          <p:cNvSpPr/>
          <p:nvPr/>
        </p:nvSpPr>
        <p:spPr>
          <a:xfrm>
            <a:off x="10917936" y="2359152"/>
            <a:ext cx="402336" cy="402336"/>
          </a:xfrm>
          <a:prstGeom prst="ellipse">
            <a:avLst/>
          </a:prstGeom>
          <a:solidFill>
            <a:schemeClr val="accent4"/>
          </a:solidFill>
          <a:ln w="25400">
            <a:solidFill>
              <a:schemeClr val="accent4"/>
            </a:solidFill>
            <a:prstDash val="solid"/>
          </a:ln>
        </p:spPr>
      </p:sp>
      <p:sp>
        <p:nvSpPr>
          <p:cNvPr id="18" name="Text 16"/>
          <p:cNvSpPr txBox="1"/>
          <p:nvPr/>
        </p:nvSpPr>
        <p:spPr>
          <a:xfrm>
            <a:off x="6217920" y="3200400"/>
            <a:ext cx="5120640" cy="365760"/>
          </a:xfrm>
          <a:prstGeom prst="rect">
            <a:avLst/>
          </a:prstGeom>
          <a:noFill/>
          <a:ln/>
        </p:spPr>
        <p:txBody>
          <a:bodyPr wrap="square" lIns="0" tIns="0" rIns="0" bIns="0" rtlCol="0" anchor="t"/>
          <a:lstStyle/>
          <a:p>
            <a:pPr indent="0" marL="0">
              <a:buNone/>
            </a:pPr>
            <a:r>
              <a:rPr lang="en-US" sz="2000" b="1" dirty="0">
                <a:solidFill>
                  <a:schemeClr val="tx1"/>
                </a:solidFill>
              </a:rPr>
              <a:t>Patient with the disorder</a:t>
            </a:r>
            <a:endParaRPr lang="en-US" sz="2000" dirty="0"/>
          </a:p>
        </p:txBody>
      </p:sp>
      <p:sp>
        <p:nvSpPr>
          <p:cNvPr id="19" name="dna 1"/>
          <p:cNvSpPr/>
          <p:nvPr/>
        </p:nvSpPr>
        <p:spPr>
          <a:xfrm>
            <a:off x="6217920" y="3950208"/>
            <a:ext cx="5120640" cy="0"/>
          </a:xfrm>
          <a:prstGeom prst="line">
            <a:avLst/>
          </a:prstGeom>
          <a:noFill/>
          <a:ln w="19050">
            <a:solidFill>
              <a:srgbClr val="8A8984"/>
            </a:solidFill>
            <a:prstDash val="solid"/>
          </a:ln>
        </p:spPr>
      </p:sp>
      <p:sp>
        <p:nvSpPr>
          <p:cNvPr id="20" name="site 1-0"/>
          <p:cNvSpPr/>
          <p:nvPr/>
        </p:nvSpPr>
        <p:spPr>
          <a:xfrm>
            <a:off x="6309360" y="3730752"/>
            <a:ext cx="402336" cy="402336"/>
          </a:xfrm>
          <a:prstGeom prst="ellipse">
            <a:avLst/>
          </a:prstGeom>
          <a:solidFill>
            <a:schemeClr val="bg1"/>
          </a:solidFill>
          <a:ln w="25400">
            <a:solidFill>
              <a:schemeClr val="accent2"/>
            </a:solidFill>
            <a:prstDash val="solid"/>
          </a:ln>
        </p:spPr>
      </p:sp>
      <p:sp>
        <p:nvSpPr>
          <p:cNvPr id="21" name="site 1-1"/>
          <p:cNvSpPr/>
          <p:nvPr/>
        </p:nvSpPr>
        <p:spPr>
          <a:xfrm>
            <a:off x="6821424" y="3730752"/>
            <a:ext cx="402336" cy="402336"/>
          </a:xfrm>
          <a:prstGeom prst="ellipse">
            <a:avLst/>
          </a:prstGeom>
          <a:solidFill>
            <a:schemeClr val="accent2"/>
          </a:solidFill>
          <a:ln w="25400">
            <a:solidFill>
              <a:schemeClr val="accent2"/>
            </a:solidFill>
            <a:prstDash val="solid"/>
          </a:ln>
        </p:spPr>
      </p:sp>
      <p:sp>
        <p:nvSpPr>
          <p:cNvPr id="22" name="site 1-2"/>
          <p:cNvSpPr/>
          <p:nvPr/>
        </p:nvSpPr>
        <p:spPr>
          <a:xfrm>
            <a:off x="7333488" y="3730752"/>
            <a:ext cx="402336" cy="402336"/>
          </a:xfrm>
          <a:prstGeom prst="ellipse">
            <a:avLst/>
          </a:prstGeom>
          <a:solidFill>
            <a:schemeClr val="bg1"/>
          </a:solidFill>
          <a:ln w="25400">
            <a:solidFill>
              <a:schemeClr val="accent2"/>
            </a:solidFill>
            <a:prstDash val="solid"/>
          </a:ln>
        </p:spPr>
      </p:sp>
      <p:sp>
        <p:nvSpPr>
          <p:cNvPr id="23" name="site 1-3"/>
          <p:cNvSpPr/>
          <p:nvPr/>
        </p:nvSpPr>
        <p:spPr>
          <a:xfrm>
            <a:off x="7845552" y="3730752"/>
            <a:ext cx="402336" cy="402336"/>
          </a:xfrm>
          <a:prstGeom prst="ellipse">
            <a:avLst/>
          </a:prstGeom>
          <a:solidFill>
            <a:schemeClr val="bg1"/>
          </a:solidFill>
          <a:ln w="25400">
            <a:solidFill>
              <a:schemeClr val="accent2"/>
            </a:solidFill>
            <a:prstDash val="solid"/>
          </a:ln>
        </p:spPr>
      </p:sp>
      <p:sp>
        <p:nvSpPr>
          <p:cNvPr id="24" name="site 1-4"/>
          <p:cNvSpPr/>
          <p:nvPr/>
        </p:nvSpPr>
        <p:spPr>
          <a:xfrm>
            <a:off x="8357616" y="3730752"/>
            <a:ext cx="402336" cy="402336"/>
          </a:xfrm>
          <a:prstGeom prst="ellipse">
            <a:avLst/>
          </a:prstGeom>
          <a:solidFill>
            <a:schemeClr val="accent2"/>
          </a:solidFill>
          <a:ln w="25400">
            <a:solidFill>
              <a:schemeClr val="accent2"/>
            </a:solidFill>
            <a:prstDash val="solid"/>
          </a:ln>
        </p:spPr>
      </p:sp>
      <p:sp>
        <p:nvSpPr>
          <p:cNvPr id="25" name="site 1-5"/>
          <p:cNvSpPr/>
          <p:nvPr/>
        </p:nvSpPr>
        <p:spPr>
          <a:xfrm>
            <a:off x="8869680" y="3730752"/>
            <a:ext cx="402336" cy="402336"/>
          </a:xfrm>
          <a:prstGeom prst="ellipse">
            <a:avLst/>
          </a:prstGeom>
          <a:solidFill>
            <a:schemeClr val="bg1"/>
          </a:solidFill>
          <a:ln w="25400">
            <a:solidFill>
              <a:schemeClr val="accent2"/>
            </a:solidFill>
            <a:prstDash val="solid"/>
          </a:ln>
        </p:spPr>
      </p:sp>
      <p:sp>
        <p:nvSpPr>
          <p:cNvPr id="26" name="site 1-6"/>
          <p:cNvSpPr/>
          <p:nvPr/>
        </p:nvSpPr>
        <p:spPr>
          <a:xfrm>
            <a:off x="9381744" y="3730752"/>
            <a:ext cx="402336" cy="402336"/>
          </a:xfrm>
          <a:prstGeom prst="ellipse">
            <a:avLst/>
          </a:prstGeom>
          <a:solidFill>
            <a:schemeClr val="bg1"/>
          </a:solidFill>
          <a:ln w="25400">
            <a:solidFill>
              <a:schemeClr val="accent2"/>
            </a:solidFill>
            <a:prstDash val="solid"/>
          </a:ln>
        </p:spPr>
      </p:sp>
      <p:sp>
        <p:nvSpPr>
          <p:cNvPr id="27" name="site 1-7"/>
          <p:cNvSpPr/>
          <p:nvPr/>
        </p:nvSpPr>
        <p:spPr>
          <a:xfrm>
            <a:off x="9893808" y="3730752"/>
            <a:ext cx="402336" cy="402336"/>
          </a:xfrm>
          <a:prstGeom prst="ellipse">
            <a:avLst/>
          </a:prstGeom>
          <a:solidFill>
            <a:schemeClr val="bg1"/>
          </a:solidFill>
          <a:ln w="25400">
            <a:solidFill>
              <a:schemeClr val="accent2"/>
            </a:solidFill>
            <a:prstDash val="solid"/>
          </a:ln>
        </p:spPr>
      </p:sp>
      <p:sp>
        <p:nvSpPr>
          <p:cNvPr id="28" name="site 1-8"/>
          <p:cNvSpPr/>
          <p:nvPr/>
        </p:nvSpPr>
        <p:spPr>
          <a:xfrm>
            <a:off x="10405872" y="3730752"/>
            <a:ext cx="402336" cy="402336"/>
          </a:xfrm>
          <a:prstGeom prst="ellipse">
            <a:avLst/>
          </a:prstGeom>
          <a:solidFill>
            <a:schemeClr val="accent2"/>
          </a:solidFill>
          <a:ln w="25400">
            <a:solidFill>
              <a:schemeClr val="accent2"/>
            </a:solidFill>
            <a:prstDash val="solid"/>
          </a:ln>
        </p:spPr>
      </p:sp>
      <p:sp>
        <p:nvSpPr>
          <p:cNvPr id="29" name="site 1-9"/>
          <p:cNvSpPr/>
          <p:nvPr/>
        </p:nvSpPr>
        <p:spPr>
          <a:xfrm>
            <a:off x="10917936" y="3730752"/>
            <a:ext cx="402336" cy="402336"/>
          </a:xfrm>
          <a:prstGeom prst="ellipse">
            <a:avLst/>
          </a:prstGeom>
          <a:solidFill>
            <a:schemeClr val="bg1"/>
          </a:solidFill>
          <a:ln w="25400">
            <a:solidFill>
              <a:schemeClr val="accent2"/>
            </a:solidFill>
            <a:prstDash val="solid"/>
          </a:ln>
        </p:spPr>
      </p:sp>
      <p:sp>
        <p:nvSpPr>
          <p:cNvPr id="30" name="Text 28"/>
          <p:cNvSpPr txBox="1"/>
          <p:nvPr/>
        </p:nvSpPr>
        <p:spPr>
          <a:xfrm>
            <a:off x="6217920" y="4572000"/>
            <a:ext cx="5120640" cy="365760"/>
          </a:xfrm>
          <a:prstGeom prst="rect">
            <a:avLst/>
          </a:prstGeom>
          <a:noFill/>
          <a:ln/>
        </p:spPr>
        <p:txBody>
          <a:bodyPr wrap="square" lIns="0" tIns="0" rIns="0" bIns="0" rtlCol="0" anchor="t"/>
          <a:lstStyle/>
          <a:p>
            <a:pPr indent="0" marL="0">
              <a:buNone/>
            </a:pPr>
            <a:r>
              <a:rPr lang="en-US" sz="2000" b="1" dirty="0">
                <a:solidFill>
                  <a:schemeClr val="tx1"/>
                </a:solidFill>
              </a:rPr>
              <a:t>Patient with an unknown variant</a:t>
            </a:r>
            <a:endParaRPr lang="en-US" sz="2000" dirty="0"/>
          </a:p>
        </p:txBody>
      </p:sp>
      <p:sp>
        <p:nvSpPr>
          <p:cNvPr id="31" name="dna 2"/>
          <p:cNvSpPr/>
          <p:nvPr/>
        </p:nvSpPr>
        <p:spPr>
          <a:xfrm>
            <a:off x="6217920" y="5321808"/>
            <a:ext cx="5120640" cy="0"/>
          </a:xfrm>
          <a:prstGeom prst="line">
            <a:avLst/>
          </a:prstGeom>
          <a:noFill/>
          <a:ln w="19050">
            <a:solidFill>
              <a:srgbClr val="8A8984"/>
            </a:solidFill>
            <a:prstDash val="solid"/>
          </a:ln>
        </p:spPr>
      </p:sp>
      <p:sp>
        <p:nvSpPr>
          <p:cNvPr id="32" name="site 2-0"/>
          <p:cNvSpPr/>
          <p:nvPr/>
        </p:nvSpPr>
        <p:spPr>
          <a:xfrm>
            <a:off x="6309360" y="5102352"/>
            <a:ext cx="402336" cy="402336"/>
          </a:xfrm>
          <a:prstGeom prst="ellipse">
            <a:avLst/>
          </a:prstGeom>
          <a:solidFill>
            <a:schemeClr val="bg1"/>
          </a:solidFill>
          <a:ln w="25400">
            <a:solidFill>
              <a:schemeClr val="accent1"/>
            </a:solidFill>
            <a:prstDash val="solid"/>
          </a:ln>
        </p:spPr>
      </p:sp>
      <p:sp>
        <p:nvSpPr>
          <p:cNvPr id="33" name="site 2-1"/>
          <p:cNvSpPr/>
          <p:nvPr/>
        </p:nvSpPr>
        <p:spPr>
          <a:xfrm>
            <a:off x="6821424" y="5102352"/>
            <a:ext cx="402336" cy="402336"/>
          </a:xfrm>
          <a:prstGeom prst="ellipse">
            <a:avLst/>
          </a:prstGeom>
          <a:solidFill>
            <a:schemeClr val="accent1"/>
          </a:solidFill>
          <a:ln w="25400">
            <a:solidFill>
              <a:schemeClr val="accent1"/>
            </a:solidFill>
            <a:prstDash val="solid"/>
          </a:ln>
        </p:spPr>
      </p:sp>
      <p:sp>
        <p:nvSpPr>
          <p:cNvPr id="34" name="site 2-2"/>
          <p:cNvSpPr/>
          <p:nvPr/>
        </p:nvSpPr>
        <p:spPr>
          <a:xfrm>
            <a:off x="7333488" y="5102352"/>
            <a:ext cx="402336" cy="402336"/>
          </a:xfrm>
          <a:prstGeom prst="ellipse">
            <a:avLst/>
          </a:prstGeom>
          <a:solidFill>
            <a:schemeClr val="bg1"/>
          </a:solidFill>
          <a:ln w="25400">
            <a:solidFill>
              <a:schemeClr val="accent1"/>
            </a:solidFill>
            <a:prstDash val="solid"/>
          </a:ln>
        </p:spPr>
      </p:sp>
      <p:sp>
        <p:nvSpPr>
          <p:cNvPr id="35" name="site 2-3"/>
          <p:cNvSpPr/>
          <p:nvPr/>
        </p:nvSpPr>
        <p:spPr>
          <a:xfrm>
            <a:off x="7845552" y="5102352"/>
            <a:ext cx="402336" cy="402336"/>
          </a:xfrm>
          <a:prstGeom prst="ellipse">
            <a:avLst/>
          </a:prstGeom>
          <a:solidFill>
            <a:schemeClr val="bg1"/>
          </a:solidFill>
          <a:ln w="25400">
            <a:solidFill>
              <a:schemeClr val="accent1"/>
            </a:solidFill>
            <a:prstDash val="solid"/>
          </a:ln>
        </p:spPr>
      </p:sp>
      <p:sp>
        <p:nvSpPr>
          <p:cNvPr id="36" name="site 2-4"/>
          <p:cNvSpPr/>
          <p:nvPr/>
        </p:nvSpPr>
        <p:spPr>
          <a:xfrm>
            <a:off x="8357616" y="5102352"/>
            <a:ext cx="402336" cy="402336"/>
          </a:xfrm>
          <a:prstGeom prst="ellipse">
            <a:avLst/>
          </a:prstGeom>
          <a:solidFill>
            <a:schemeClr val="accent1"/>
          </a:solidFill>
          <a:ln w="25400">
            <a:solidFill>
              <a:schemeClr val="accent1"/>
            </a:solidFill>
            <a:prstDash val="solid"/>
          </a:ln>
        </p:spPr>
      </p:sp>
      <p:sp>
        <p:nvSpPr>
          <p:cNvPr id="37" name="site 2-5"/>
          <p:cNvSpPr/>
          <p:nvPr/>
        </p:nvSpPr>
        <p:spPr>
          <a:xfrm>
            <a:off x="8869680" y="5102352"/>
            <a:ext cx="402336" cy="402336"/>
          </a:xfrm>
          <a:prstGeom prst="ellipse">
            <a:avLst/>
          </a:prstGeom>
          <a:solidFill>
            <a:schemeClr val="bg1"/>
          </a:solidFill>
          <a:ln w="25400">
            <a:solidFill>
              <a:schemeClr val="accent1"/>
            </a:solidFill>
            <a:prstDash val="solid"/>
          </a:ln>
        </p:spPr>
      </p:sp>
      <p:sp>
        <p:nvSpPr>
          <p:cNvPr id="38" name="site 2-6"/>
          <p:cNvSpPr/>
          <p:nvPr/>
        </p:nvSpPr>
        <p:spPr>
          <a:xfrm>
            <a:off x="9381744" y="5102352"/>
            <a:ext cx="402336" cy="402336"/>
          </a:xfrm>
          <a:prstGeom prst="ellipse">
            <a:avLst/>
          </a:prstGeom>
          <a:solidFill>
            <a:schemeClr val="bg1"/>
          </a:solidFill>
          <a:ln w="25400">
            <a:solidFill>
              <a:schemeClr val="accent1"/>
            </a:solidFill>
            <a:prstDash val="solid"/>
          </a:ln>
        </p:spPr>
      </p:sp>
      <p:sp>
        <p:nvSpPr>
          <p:cNvPr id="39" name="site 2-7"/>
          <p:cNvSpPr/>
          <p:nvPr/>
        </p:nvSpPr>
        <p:spPr>
          <a:xfrm>
            <a:off x="9893808" y="5102352"/>
            <a:ext cx="402336" cy="402336"/>
          </a:xfrm>
          <a:prstGeom prst="ellipse">
            <a:avLst/>
          </a:prstGeom>
          <a:solidFill>
            <a:schemeClr val="accent1"/>
          </a:solidFill>
          <a:ln w="25400">
            <a:solidFill>
              <a:schemeClr val="accent1"/>
            </a:solidFill>
            <a:prstDash val="solid"/>
          </a:ln>
        </p:spPr>
      </p:sp>
      <p:sp>
        <p:nvSpPr>
          <p:cNvPr id="40" name="site 2-8"/>
          <p:cNvSpPr/>
          <p:nvPr/>
        </p:nvSpPr>
        <p:spPr>
          <a:xfrm>
            <a:off x="10405872" y="5102352"/>
            <a:ext cx="402336" cy="402336"/>
          </a:xfrm>
          <a:prstGeom prst="ellipse">
            <a:avLst/>
          </a:prstGeom>
          <a:solidFill>
            <a:schemeClr val="accent1"/>
          </a:solidFill>
          <a:ln w="25400">
            <a:solidFill>
              <a:schemeClr val="accent1"/>
            </a:solidFill>
            <a:prstDash val="solid"/>
          </a:ln>
        </p:spPr>
      </p:sp>
      <p:sp>
        <p:nvSpPr>
          <p:cNvPr id="41" name="site 2-9"/>
          <p:cNvSpPr/>
          <p:nvPr/>
        </p:nvSpPr>
        <p:spPr>
          <a:xfrm>
            <a:off x="10917936" y="5102352"/>
            <a:ext cx="402336" cy="402336"/>
          </a:xfrm>
          <a:prstGeom prst="ellipse">
            <a:avLst/>
          </a:prstGeom>
          <a:solidFill>
            <a:schemeClr val="bg1"/>
          </a:solidFill>
          <a:ln w="25400">
            <a:solidFill>
              <a:schemeClr val="accent1"/>
            </a:solidFill>
            <a:prstDash val="solid"/>
          </a:ln>
        </p:spPr>
      </p:sp>
      <p:sp>
        <p:nvSpPr>
          <p:cNvPr id="42" name="Text 40"/>
          <p:cNvSpPr txBox="1"/>
          <p:nvPr/>
        </p:nvSpPr>
        <p:spPr>
          <a:xfrm>
            <a:off x="6217920" y="5760720"/>
            <a:ext cx="5212080" cy="320040"/>
          </a:xfrm>
          <a:prstGeom prst="rect">
            <a:avLst/>
          </a:prstGeom>
          <a:noFill/>
          <a:ln/>
        </p:spPr>
        <p:txBody>
          <a:bodyPr wrap="square" lIns="0" tIns="0" rIns="0" bIns="0" rtlCol="0" anchor="t"/>
          <a:lstStyle/>
          <a:p>
            <a:pPr indent="0" marL="0">
              <a:buNone/>
            </a:pPr>
            <a:r>
              <a:rPr lang="en-US" sz="1600" dirty="0">
                <a:solidFill>
                  <a:schemeClr val="tx2"/>
                </a:solidFill>
              </a:rPr>
              <a:t>Filled circle = tagged site</a:t>
            </a:r>
            <a:endParaRPr lang="en-US" sz="1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The catch: nobody outside can check it</a:t>
            </a:r>
            <a:endParaRPr lang="en-US" sz="3600" dirty="0"/>
          </a:p>
        </p:txBody>
      </p:sp>
      <p:sp>
        <p:nvSpPr>
          <p:cNvPr id="3" name="stat disease signatures reported from 42 syndromes in one landmark study (Aref-Eshghi 2020)"/>
          <p:cNvSpPr/>
          <p:nvPr/>
        </p:nvSpPr>
        <p:spPr>
          <a:xfrm>
            <a:off x="548640" y="1554480"/>
            <a:ext cx="3474720" cy="2743200"/>
          </a:xfrm>
          <a:prstGeom prst="roundRect">
            <a:avLst>
              <a:gd name="adj" fmla="val 2667"/>
            </a:avLst>
          </a:prstGeom>
          <a:solidFill>
            <a:schemeClr val="bg2"/>
          </a:solidFill>
          <a:ln w="12700">
            <a:solidFill>
              <a:schemeClr val="bg2"/>
            </a:solidFill>
            <a:prstDash val="solid"/>
          </a:ln>
        </p:spPr>
      </p:sp>
      <p:sp>
        <p:nvSpPr>
          <p:cNvPr id="4" name="Text 2"/>
          <p:cNvSpPr txBox="1"/>
          <p:nvPr/>
        </p:nvSpPr>
        <p:spPr>
          <a:xfrm>
            <a:off x="777240" y="1691640"/>
            <a:ext cx="301752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34</a:t>
            </a:r>
            <a:endParaRPr lang="en-US" sz="5400" dirty="0"/>
          </a:p>
        </p:txBody>
      </p:sp>
      <p:sp>
        <p:nvSpPr>
          <p:cNvPr id="5" name="Text 3"/>
          <p:cNvSpPr txBox="1"/>
          <p:nvPr/>
        </p:nvSpPr>
        <p:spPr>
          <a:xfrm>
            <a:off x="777240" y="2697480"/>
            <a:ext cx="3017520" cy="1508760"/>
          </a:xfrm>
          <a:prstGeom prst="rect">
            <a:avLst/>
          </a:prstGeom>
          <a:noFill/>
          <a:ln/>
        </p:spPr>
        <p:txBody>
          <a:bodyPr wrap="square" lIns="0" tIns="0" rIns="0" bIns="0" rtlCol="0" anchor="t"/>
          <a:lstStyle/>
          <a:p>
            <a:pPr indent="0" marL="0">
              <a:buNone/>
            </a:pPr>
            <a:r>
              <a:rPr lang="en-US" sz="2000" dirty="0">
                <a:solidFill>
                  <a:schemeClr val="tx2"/>
                </a:solidFill>
              </a:rPr>
              <a:t>disease signatures reported from 42 syndromes in one landmark study (Aref-Eshghi 2020)</a:t>
            </a:r>
            <a:endParaRPr lang="en-US" sz="2000" dirty="0"/>
          </a:p>
        </p:txBody>
      </p:sp>
      <p:sp>
        <p:nvSpPr>
          <p:cNvPr id="6" name="stat private reference database that these tests are validated against"/>
          <p:cNvSpPr/>
          <p:nvPr/>
        </p:nvSpPr>
        <p:spPr>
          <a:xfrm>
            <a:off x="4297680" y="1554480"/>
            <a:ext cx="3474720" cy="2743200"/>
          </a:xfrm>
          <a:prstGeom prst="roundRect">
            <a:avLst>
              <a:gd name="adj" fmla="val 2667"/>
            </a:avLst>
          </a:prstGeom>
          <a:solidFill>
            <a:schemeClr val="bg2"/>
          </a:solidFill>
          <a:ln w="12700">
            <a:solidFill>
              <a:schemeClr val="bg2"/>
            </a:solidFill>
            <a:prstDash val="solid"/>
          </a:ln>
        </p:spPr>
      </p:sp>
      <p:sp>
        <p:nvSpPr>
          <p:cNvPr id="7" name="Text 5"/>
          <p:cNvSpPr txBox="1"/>
          <p:nvPr/>
        </p:nvSpPr>
        <p:spPr>
          <a:xfrm>
            <a:off x="4526280" y="1691640"/>
            <a:ext cx="3017520" cy="100584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1</a:t>
            </a:r>
            <a:endParaRPr lang="en-US" sz="5400" dirty="0"/>
          </a:p>
        </p:txBody>
      </p:sp>
      <p:sp>
        <p:nvSpPr>
          <p:cNvPr id="8" name="Text 6"/>
          <p:cNvSpPr txBox="1"/>
          <p:nvPr/>
        </p:nvSpPr>
        <p:spPr>
          <a:xfrm>
            <a:off x="4526280" y="2697480"/>
            <a:ext cx="3017520" cy="1508760"/>
          </a:xfrm>
          <a:prstGeom prst="rect">
            <a:avLst/>
          </a:prstGeom>
          <a:noFill/>
          <a:ln/>
        </p:spPr>
        <p:txBody>
          <a:bodyPr wrap="square" lIns="0" tIns="0" rIns="0" bIns="0" rtlCol="0" anchor="t"/>
          <a:lstStyle/>
          <a:p>
            <a:pPr indent="0" marL="0">
              <a:buNone/>
            </a:pPr>
            <a:r>
              <a:rPr lang="en-US" sz="2000" dirty="0">
                <a:solidFill>
                  <a:schemeClr val="tx2"/>
                </a:solidFill>
              </a:rPr>
              <a:t>private reference database that these tests are validated against</a:t>
            </a:r>
            <a:endParaRPr lang="en-US" sz="2000" dirty="0"/>
          </a:p>
        </p:txBody>
      </p:sp>
      <p:sp>
        <p:nvSpPr>
          <p:cNvPr id="9" name="stat sensitivity for 2 of 10 signatures when an outside group re-tested them (Husson 2024)"/>
          <p:cNvSpPr/>
          <p:nvPr/>
        </p:nvSpPr>
        <p:spPr>
          <a:xfrm>
            <a:off x="8046720" y="1554480"/>
            <a:ext cx="3474720" cy="2743200"/>
          </a:xfrm>
          <a:prstGeom prst="roundRect">
            <a:avLst>
              <a:gd name="adj" fmla="val 2667"/>
            </a:avLst>
          </a:prstGeom>
          <a:solidFill>
            <a:schemeClr val="bg2"/>
          </a:solidFill>
          <a:ln w="12700">
            <a:solidFill>
              <a:schemeClr val="bg2"/>
            </a:solidFill>
            <a:prstDash val="solid"/>
          </a:ln>
        </p:spPr>
      </p:sp>
      <p:sp>
        <p:nvSpPr>
          <p:cNvPr id="10" name="Text 8"/>
          <p:cNvSpPr txBox="1"/>
          <p:nvPr/>
        </p:nvSpPr>
        <p:spPr>
          <a:xfrm>
            <a:off x="8275320" y="1691640"/>
            <a:ext cx="3017520" cy="1005840"/>
          </a:xfrm>
          <a:prstGeom prst="rect">
            <a:avLst/>
          </a:prstGeom>
          <a:noFill/>
          <a:ln/>
        </p:spPr>
        <p:txBody>
          <a:bodyPr wrap="square" lIns="0" tIns="0" rIns="0" bIns="0" rtlCol="0" anchor="t"/>
          <a:lstStyle/>
          <a:p>
            <a:pPr indent="0" marL="0">
              <a:buNone/>
            </a:pPr>
            <a:r>
              <a:rPr lang="en-US" sz="5400" b="1" dirty="0">
                <a:solidFill>
                  <a:schemeClr val="accent6"/>
                </a:solidFill>
                <a:latin typeface="Cambria" pitchFamily="34" charset="0"/>
                <a:ea typeface="Cambria" pitchFamily="34" charset="-122"/>
                <a:cs typeface="Cambria" pitchFamily="34" charset="-120"/>
              </a:rPr>
              <a:t>&lt;40%</a:t>
            </a:r>
            <a:endParaRPr lang="en-US" sz="5400" dirty="0"/>
          </a:p>
        </p:txBody>
      </p:sp>
      <p:sp>
        <p:nvSpPr>
          <p:cNvPr id="11" name="Text 9"/>
          <p:cNvSpPr txBox="1"/>
          <p:nvPr/>
        </p:nvSpPr>
        <p:spPr>
          <a:xfrm>
            <a:off x="8275320" y="2697480"/>
            <a:ext cx="3017520" cy="1508760"/>
          </a:xfrm>
          <a:prstGeom prst="rect">
            <a:avLst/>
          </a:prstGeom>
          <a:noFill/>
          <a:ln/>
        </p:spPr>
        <p:txBody>
          <a:bodyPr wrap="square" lIns="0" tIns="0" rIns="0" bIns="0" rtlCol="0" anchor="t"/>
          <a:lstStyle/>
          <a:p>
            <a:pPr indent="0" marL="0">
              <a:buNone/>
            </a:pPr>
            <a:r>
              <a:rPr lang="en-US" sz="2000" dirty="0">
                <a:solidFill>
                  <a:schemeClr val="tx2"/>
                </a:solidFill>
              </a:rPr>
              <a:t>sensitivity for 2 of 10 signatures when an outside group re-tested them (Husson 2024)</a:t>
            </a:r>
            <a:endParaRPr lang="en-US" sz="2000" dirty="0"/>
          </a:p>
        </p:txBody>
      </p:sp>
      <p:sp>
        <p:nvSpPr>
          <p:cNvPr id="12" name="Text 10"/>
          <p:cNvSpPr txBox="1"/>
          <p:nvPr/>
        </p:nvSpPr>
        <p:spPr>
          <a:xfrm>
            <a:off x="548640" y="4617720"/>
            <a:ext cx="11091672" cy="1371600"/>
          </a:xfrm>
          <a:prstGeom prst="rect">
            <a:avLst/>
          </a:prstGeom>
          <a:noFill/>
          <a:ln/>
        </p:spPr>
        <p:txBody>
          <a:bodyPr wrap="square" lIns="0" tIns="0" rIns="0" bIns="0" rtlCol="0" anchor="t"/>
          <a:lstStyle/>
          <a:p>
            <a:pPr indent="0" marL="0">
              <a:buNone/>
            </a:pPr>
            <a:r>
              <a:rPr lang="en-US" sz="2400" dirty="0">
                <a:solidFill>
                  <a:schemeClr val="tx1"/>
                </a:solidFill>
              </a:rPr>
              <a:t>Results are reported in categories agreed by experts, not as a measured strength of evidence. Our question: how much can be confirmed from public data alone?</a:t>
            </a:r>
            <a:endParaRPr lang="en-US" sz="24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What we built: four components</a:t>
            </a:r>
            <a:endParaRPr lang="en-US" sz="3600" dirty="0"/>
          </a:p>
        </p:txBody>
      </p:sp>
      <p:sp>
        <p:nvSpPr>
          <p:cNvPr id="3" name="component 1"/>
          <p:cNvSpPr/>
          <p:nvPr/>
        </p:nvSpPr>
        <p:spPr>
          <a:xfrm>
            <a:off x="548640" y="1554480"/>
            <a:ext cx="5349240" cy="2103120"/>
          </a:xfrm>
          <a:prstGeom prst="roundRect">
            <a:avLst>
              <a:gd name="adj" fmla="val 3478"/>
            </a:avLst>
          </a:prstGeom>
          <a:solidFill>
            <a:schemeClr val="bg2"/>
          </a:solidFill>
          <a:ln w="12700">
            <a:solidFill>
              <a:schemeClr val="bg2"/>
            </a:solidFill>
            <a:prstDash val="solid"/>
          </a:ln>
        </p:spPr>
      </p:sp>
      <p:sp>
        <p:nvSpPr>
          <p:cNvPr id="4" name="component badge 1"/>
          <p:cNvSpPr/>
          <p:nvPr/>
        </p:nvSpPr>
        <p:spPr>
          <a:xfrm>
            <a:off x="822960" y="1874520"/>
            <a:ext cx="731520" cy="731520"/>
          </a:xfrm>
          <a:prstGeom prst="ellipse">
            <a:avLst/>
          </a:prstGeom>
          <a:solidFill>
            <a:schemeClr val="accent1"/>
          </a:solidFill>
          <a:ln w="12700">
            <a:solidFill>
              <a:schemeClr val="accent1"/>
            </a:solidFill>
            <a:prstDash val="solid"/>
          </a:ln>
        </p:spPr>
      </p:sp>
      <p:sp>
        <p:nvSpPr>
          <p:cNvPr id="5" name="Text 3"/>
          <p:cNvSpPr txBox="1"/>
          <p:nvPr/>
        </p:nvSpPr>
        <p:spPr>
          <a:xfrm>
            <a:off x="822960" y="187452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Text 4"/>
          <p:cNvSpPr txBox="1"/>
          <p:nvPr/>
        </p:nvSpPr>
        <p:spPr>
          <a:xfrm>
            <a:off x="1783080" y="1828800"/>
            <a:ext cx="3931920" cy="457200"/>
          </a:xfrm>
          <a:prstGeom prst="rect">
            <a:avLst/>
          </a:prstGeom>
          <a:noFill/>
          <a:ln/>
        </p:spPr>
        <p:txBody>
          <a:bodyPr wrap="square" lIns="0" tIns="0" rIns="0" bIns="0" rtlCol="0" anchor="t"/>
          <a:lstStyle/>
          <a:p>
            <a:pPr indent="0" marL="0">
              <a:buNone/>
            </a:pPr>
            <a:r>
              <a:rPr lang="en-US" sz="2400" b="1" dirty="0">
                <a:solidFill>
                  <a:schemeClr val="tx1"/>
                </a:solidFill>
              </a:rPr>
              <a:t>Corpus</a:t>
            </a:r>
            <a:endParaRPr lang="en-US" sz="2400" dirty="0"/>
          </a:p>
        </p:txBody>
      </p:sp>
      <p:sp>
        <p:nvSpPr>
          <p:cNvPr id="7" name="Text 5"/>
          <p:cNvSpPr txBox="1"/>
          <p:nvPr/>
        </p:nvSpPr>
        <p:spPr>
          <a:xfrm>
            <a:off x="1783080" y="2377440"/>
            <a:ext cx="3931920" cy="1188720"/>
          </a:xfrm>
          <a:prstGeom prst="rect">
            <a:avLst/>
          </a:prstGeom>
          <a:noFill/>
          <a:ln/>
        </p:spPr>
        <p:txBody>
          <a:bodyPr wrap="square" lIns="0" tIns="0" rIns="0" bIns="0" rtlCol="0" anchor="t"/>
          <a:lstStyle/>
          <a:p>
            <a:pPr indent="0" marL="0">
              <a:buNone/>
            </a:pPr>
            <a:r>
              <a:rPr lang="en-US" sz="2000" dirty="0">
                <a:solidFill>
                  <a:schemeClr val="tx2"/>
                </a:solidFill>
              </a:rPr>
              <a:t>3,732 public samples from 18 datasets, 1,622 kept, a recorded reason for every exclusion</a:t>
            </a:r>
            <a:endParaRPr lang="en-US" sz="2000" dirty="0"/>
          </a:p>
        </p:txBody>
      </p:sp>
      <p:sp>
        <p:nvSpPr>
          <p:cNvPr id="8" name="component 2"/>
          <p:cNvSpPr/>
          <p:nvPr/>
        </p:nvSpPr>
        <p:spPr>
          <a:xfrm>
            <a:off x="6172200" y="1554480"/>
            <a:ext cx="5349240" cy="2103120"/>
          </a:xfrm>
          <a:prstGeom prst="roundRect">
            <a:avLst>
              <a:gd name="adj" fmla="val 3478"/>
            </a:avLst>
          </a:prstGeom>
          <a:solidFill>
            <a:schemeClr val="bg2"/>
          </a:solidFill>
          <a:ln w="12700">
            <a:solidFill>
              <a:schemeClr val="bg2"/>
            </a:solidFill>
            <a:prstDash val="solid"/>
          </a:ln>
        </p:spPr>
      </p:sp>
      <p:sp>
        <p:nvSpPr>
          <p:cNvPr id="9" name="component badge 2"/>
          <p:cNvSpPr/>
          <p:nvPr/>
        </p:nvSpPr>
        <p:spPr>
          <a:xfrm>
            <a:off x="6446520" y="1874520"/>
            <a:ext cx="731520" cy="731520"/>
          </a:xfrm>
          <a:prstGeom prst="ellipse">
            <a:avLst/>
          </a:prstGeom>
          <a:solidFill>
            <a:schemeClr val="accent1"/>
          </a:solidFill>
          <a:ln w="12700">
            <a:solidFill>
              <a:schemeClr val="accent1"/>
            </a:solidFill>
            <a:prstDash val="solid"/>
          </a:ln>
        </p:spPr>
      </p:sp>
      <p:sp>
        <p:nvSpPr>
          <p:cNvPr id="10" name="Text 8"/>
          <p:cNvSpPr txBox="1"/>
          <p:nvPr/>
        </p:nvSpPr>
        <p:spPr>
          <a:xfrm>
            <a:off x="6446520" y="187452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Text 9"/>
          <p:cNvSpPr txBox="1"/>
          <p:nvPr/>
        </p:nvSpPr>
        <p:spPr>
          <a:xfrm>
            <a:off x="7406640" y="1828800"/>
            <a:ext cx="3931920" cy="457200"/>
          </a:xfrm>
          <a:prstGeom prst="rect">
            <a:avLst/>
          </a:prstGeom>
          <a:noFill/>
          <a:ln/>
        </p:spPr>
        <p:txBody>
          <a:bodyPr wrap="square" lIns="0" tIns="0" rIns="0" bIns="0" rtlCol="0" anchor="t"/>
          <a:lstStyle/>
          <a:p>
            <a:pPr indent="0" marL="0">
              <a:buNone/>
            </a:pPr>
            <a:r>
              <a:rPr lang="en-US" sz="2400" b="1" dirty="0">
                <a:solidFill>
                  <a:schemeClr val="tx1"/>
                </a:solidFill>
              </a:rPr>
              <a:t>Classifiers</a:t>
            </a:r>
            <a:endParaRPr lang="en-US" sz="2400" dirty="0"/>
          </a:p>
        </p:txBody>
      </p:sp>
      <p:sp>
        <p:nvSpPr>
          <p:cNvPr id="12" name="Text 10"/>
          <p:cNvSpPr txBox="1"/>
          <p:nvPr/>
        </p:nvSpPr>
        <p:spPr>
          <a:xfrm>
            <a:off x="7406640" y="2377440"/>
            <a:ext cx="3931920" cy="1188720"/>
          </a:xfrm>
          <a:prstGeom prst="rect">
            <a:avLst/>
          </a:prstGeom>
          <a:noFill/>
          <a:ln/>
        </p:spPr>
        <p:txBody>
          <a:bodyPr wrap="square" lIns="0" tIns="0" rIns="0" bIns="0" rtlCol="0" anchor="t"/>
          <a:lstStyle/>
          <a:p>
            <a:pPr indent="0" marL="0">
              <a:buNone/>
            </a:pPr>
            <a:r>
              <a:rPr lang="en-US" sz="2000" dirty="0">
                <a:solidFill>
                  <a:schemeClr val="tx2"/>
                </a:solidFill>
              </a:rPr>
              <a:t>10 disease signatures: 1 published and reproduced, 9 re-derived under one fixed rule</a:t>
            </a:r>
            <a:endParaRPr lang="en-US" sz="2000" dirty="0"/>
          </a:p>
        </p:txBody>
      </p:sp>
      <p:sp>
        <p:nvSpPr>
          <p:cNvPr id="13" name="component 3"/>
          <p:cNvSpPr/>
          <p:nvPr/>
        </p:nvSpPr>
        <p:spPr>
          <a:xfrm>
            <a:off x="548640" y="3886200"/>
            <a:ext cx="5349240" cy="2103120"/>
          </a:xfrm>
          <a:prstGeom prst="roundRect">
            <a:avLst>
              <a:gd name="adj" fmla="val 3478"/>
            </a:avLst>
          </a:prstGeom>
          <a:solidFill>
            <a:schemeClr val="bg2"/>
          </a:solidFill>
          <a:ln w="12700">
            <a:solidFill>
              <a:schemeClr val="bg2"/>
            </a:solidFill>
            <a:prstDash val="solid"/>
          </a:ln>
        </p:spPr>
      </p:sp>
      <p:sp>
        <p:nvSpPr>
          <p:cNvPr id="14" name="component badge 3"/>
          <p:cNvSpPr/>
          <p:nvPr/>
        </p:nvSpPr>
        <p:spPr>
          <a:xfrm>
            <a:off x="822960" y="4206240"/>
            <a:ext cx="731520" cy="731520"/>
          </a:xfrm>
          <a:prstGeom prst="ellipse">
            <a:avLst/>
          </a:prstGeom>
          <a:solidFill>
            <a:schemeClr val="accent1"/>
          </a:solidFill>
          <a:ln w="12700">
            <a:solidFill>
              <a:schemeClr val="accent1"/>
            </a:solidFill>
            <a:prstDash val="solid"/>
          </a:ln>
        </p:spPr>
      </p:sp>
      <p:sp>
        <p:nvSpPr>
          <p:cNvPr id="15" name="Text 13"/>
          <p:cNvSpPr txBox="1"/>
          <p:nvPr/>
        </p:nvSpPr>
        <p:spPr>
          <a:xfrm>
            <a:off x="822960" y="42062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6" name="Text 14"/>
          <p:cNvSpPr txBox="1"/>
          <p:nvPr/>
        </p:nvSpPr>
        <p:spPr>
          <a:xfrm>
            <a:off x="1783080" y="4160520"/>
            <a:ext cx="3931920" cy="457200"/>
          </a:xfrm>
          <a:prstGeom prst="rect">
            <a:avLst/>
          </a:prstGeom>
          <a:noFill/>
          <a:ln/>
        </p:spPr>
        <p:txBody>
          <a:bodyPr wrap="square" lIns="0" tIns="0" rIns="0" bIns="0" rtlCol="0" anchor="t"/>
          <a:lstStyle/>
          <a:p>
            <a:pPr indent="0" marL="0">
              <a:buNone/>
            </a:pPr>
            <a:r>
              <a:rPr lang="en-US" sz="2400" b="1" dirty="0">
                <a:solidFill>
                  <a:schemeClr val="tx1"/>
                </a:solidFill>
              </a:rPr>
              <a:t>Audit and calibration</a:t>
            </a:r>
            <a:endParaRPr lang="en-US" sz="2400" dirty="0"/>
          </a:p>
        </p:txBody>
      </p:sp>
      <p:sp>
        <p:nvSpPr>
          <p:cNvPr id="17" name="Text 15"/>
          <p:cNvSpPr txBox="1"/>
          <p:nvPr/>
        </p:nvSpPr>
        <p:spPr>
          <a:xfrm>
            <a:off x="1783080" y="4709160"/>
            <a:ext cx="3931920" cy="1188720"/>
          </a:xfrm>
          <a:prstGeom prst="rect">
            <a:avLst/>
          </a:prstGeom>
          <a:noFill/>
          <a:ln/>
        </p:spPr>
        <p:txBody>
          <a:bodyPr wrap="square" lIns="0" tIns="0" rIns="0" bIns="0" rtlCol="0" anchor="t"/>
          <a:lstStyle/>
          <a:p>
            <a:pPr indent="0" marL="0">
              <a:buNone/>
            </a:pPr>
            <a:r>
              <a:rPr lang="en-US" sz="2000" dirty="0">
                <a:solidFill>
                  <a:schemeClr val="tx2"/>
                </a:solidFill>
              </a:rPr>
              <a:t>Cross-study tests, every classifier against every disorder, and scores turned into evidence strength</a:t>
            </a:r>
            <a:endParaRPr lang="en-US" sz="2000" dirty="0"/>
          </a:p>
        </p:txBody>
      </p:sp>
      <p:sp>
        <p:nvSpPr>
          <p:cNvPr id="18" name="component 4"/>
          <p:cNvSpPr/>
          <p:nvPr/>
        </p:nvSpPr>
        <p:spPr>
          <a:xfrm>
            <a:off x="6172200" y="3886200"/>
            <a:ext cx="5349240" cy="2103120"/>
          </a:xfrm>
          <a:prstGeom prst="roundRect">
            <a:avLst>
              <a:gd name="adj" fmla="val 3478"/>
            </a:avLst>
          </a:prstGeom>
          <a:solidFill>
            <a:schemeClr val="bg2"/>
          </a:solidFill>
          <a:ln w="12700">
            <a:solidFill>
              <a:schemeClr val="bg2"/>
            </a:solidFill>
            <a:prstDash val="solid"/>
          </a:ln>
        </p:spPr>
      </p:sp>
      <p:sp>
        <p:nvSpPr>
          <p:cNvPr id="19" name="component badge 4"/>
          <p:cNvSpPr/>
          <p:nvPr/>
        </p:nvSpPr>
        <p:spPr>
          <a:xfrm>
            <a:off x="6446520" y="4206240"/>
            <a:ext cx="731520" cy="731520"/>
          </a:xfrm>
          <a:prstGeom prst="ellipse">
            <a:avLst/>
          </a:prstGeom>
          <a:solidFill>
            <a:schemeClr val="accent1"/>
          </a:solidFill>
          <a:ln w="12700">
            <a:solidFill>
              <a:schemeClr val="accent1"/>
            </a:solidFill>
            <a:prstDash val="solid"/>
          </a:ln>
        </p:spPr>
      </p:sp>
      <p:sp>
        <p:nvSpPr>
          <p:cNvPr id="20" name="Text 18"/>
          <p:cNvSpPr txBox="1"/>
          <p:nvPr/>
        </p:nvSpPr>
        <p:spPr>
          <a:xfrm>
            <a:off x="6446520" y="42062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1" name="Text 19"/>
          <p:cNvSpPr txBox="1"/>
          <p:nvPr/>
        </p:nvSpPr>
        <p:spPr>
          <a:xfrm>
            <a:off x="7406640" y="4160520"/>
            <a:ext cx="3931920" cy="457200"/>
          </a:xfrm>
          <a:prstGeom prst="rect">
            <a:avLst/>
          </a:prstGeom>
          <a:noFill/>
          <a:ln/>
        </p:spPr>
        <p:txBody>
          <a:bodyPr wrap="square" lIns="0" tIns="0" rIns="0" bIns="0" rtlCol="0" anchor="t"/>
          <a:lstStyle/>
          <a:p>
            <a:pPr indent="0" marL="0">
              <a:buNone/>
            </a:pPr>
            <a:r>
              <a:rPr lang="en-US" sz="2400" b="1" dirty="0">
                <a:solidFill>
                  <a:schemeClr val="tx1"/>
                </a:solidFill>
              </a:rPr>
              <a:t>Identification engine</a:t>
            </a:r>
            <a:endParaRPr lang="en-US" sz="2400" dirty="0"/>
          </a:p>
        </p:txBody>
      </p:sp>
      <p:sp>
        <p:nvSpPr>
          <p:cNvPr id="22" name="Text 20"/>
          <p:cNvSpPr txBox="1"/>
          <p:nvPr/>
        </p:nvSpPr>
        <p:spPr>
          <a:xfrm>
            <a:off x="7406640" y="4709160"/>
            <a:ext cx="3931920" cy="1188720"/>
          </a:xfrm>
          <a:prstGeom prst="rect">
            <a:avLst/>
          </a:prstGeom>
          <a:noFill/>
          <a:ln/>
        </p:spPr>
        <p:txBody>
          <a:bodyPr wrap="square" lIns="0" tIns="0" rIns="0" bIns="0" rtlCol="0" anchor="t"/>
          <a:lstStyle/>
          <a:p>
            <a:pPr indent="0" marL="0">
              <a:buNone/>
            </a:pPr>
            <a:r>
              <a:rPr lang="en-US" sz="2000" dirty="0">
                <a:solidFill>
                  <a:schemeClr val="tx2"/>
                </a:solidFill>
              </a:rPr>
              <a:t>Upload any signature and learn which of 12 disorders it identifies, if any</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Proof it works: the Sotos syndrome signature</a:t>
            </a:r>
            <a:endParaRPr lang="en-US" sz="3600" dirty="0"/>
          </a:p>
        </p:txBody>
      </p:sp>
      <p:pic>
        <p:nvPicPr>
          <p:cNvPr id="3" name="Sotos reproduction scores by cohort" descr="Sotos reproduction scores by cohort">    </p:cNvPr>
          <p:cNvPicPr>
            <a:picLocks noChangeAspect="1"/>
          </p:cNvPicPr>
          <p:nvPr/>
        </p:nvPicPr>
        <p:blipFill>
          <a:blip r:embed="rId1"/>
          <a:stretch>
            <a:fillRect/>
          </a:stretch>
        </p:blipFill>
        <p:spPr>
          <a:xfrm>
            <a:off x="548640" y="1864360"/>
            <a:ext cx="6949440" cy="3860800"/>
          </a:xfrm>
          <a:prstGeom prst="rect">
            <a:avLst/>
          </a:prstGeom>
        </p:spPr>
      </p:pic>
      <p:sp>
        <p:nvSpPr>
          <p:cNvPr id="4" name="Text 1"/>
          <p:cNvSpPr txBox="1"/>
          <p:nvPr/>
        </p:nvSpPr>
        <p:spPr>
          <a:xfrm>
            <a:off x="7863840" y="1554480"/>
            <a:ext cx="3749040" cy="411480"/>
          </a:xfrm>
          <a:prstGeom prst="rect">
            <a:avLst/>
          </a:prstGeom>
          <a:noFill/>
          <a:ln/>
        </p:spPr>
        <p:txBody>
          <a:bodyPr wrap="square" lIns="0" tIns="0" rIns="0" bIns="0" rtlCol="0" anchor="t"/>
          <a:lstStyle/>
          <a:p>
            <a:pPr indent="0" marL="0">
              <a:buNone/>
            </a:pPr>
            <a:r>
              <a:rPr lang="en-US" sz="2200" b="1" dirty="0">
                <a:solidFill>
                  <a:schemeClr val="accent5"/>
                </a:solidFill>
              </a:rPr>
              <a:t>Published (Choufani 2015)</a:t>
            </a:r>
            <a:endParaRPr lang="en-US" sz="2200" dirty="0"/>
          </a:p>
        </p:txBody>
      </p:sp>
      <p:sp>
        <p:nvSpPr>
          <p:cNvPr id="5" name="Text 2"/>
          <p:cNvSpPr txBox="1"/>
          <p:nvPr/>
        </p:nvSpPr>
        <p:spPr>
          <a:xfrm>
            <a:off x="7863840" y="2011680"/>
            <a:ext cx="3749040" cy="1188720"/>
          </a:xfrm>
          <a:prstGeom prst="rect">
            <a:avLst/>
          </a:prstGeom>
          <a:noFill/>
          <a:ln/>
        </p:spPr>
        <p:txBody>
          <a:bodyPr wrap="square" lIns="0" tIns="0" rIns="0" bIns="0" rtlCol="0" anchor="t"/>
          <a:lstStyle/>
          <a:p>
            <a:pPr indent="0" marL="0">
              <a:buNone/>
            </a:pPr>
            <a:r>
              <a:rPr lang="en-US" sz="2000" dirty="0">
                <a:solidFill>
                  <a:schemeClr val="tx2"/>
                </a:solidFill>
              </a:rPr>
              <a:t>19 cases and 53 controls separate cleanly at a score of zero.</a:t>
            </a:r>
            <a:endParaRPr lang="en-US" sz="2000" dirty="0"/>
          </a:p>
        </p:txBody>
      </p:sp>
      <p:sp>
        <p:nvSpPr>
          <p:cNvPr id="6" name="Text 3"/>
          <p:cNvSpPr txBox="1"/>
          <p:nvPr/>
        </p:nvSpPr>
        <p:spPr>
          <a:xfrm>
            <a:off x="7863840" y="3429000"/>
            <a:ext cx="3749040" cy="411480"/>
          </a:xfrm>
          <a:prstGeom prst="rect">
            <a:avLst/>
          </a:prstGeom>
          <a:noFill/>
          <a:ln/>
        </p:spPr>
        <p:txBody>
          <a:bodyPr wrap="square" lIns="0" tIns="0" rIns="0" bIns="0" rtlCol="0" anchor="t"/>
          <a:lstStyle/>
          <a:p>
            <a:pPr indent="0" marL="0">
              <a:buNone/>
            </a:pPr>
            <a:r>
              <a:rPr lang="en-US" sz="2200" b="1" dirty="0">
                <a:solidFill>
                  <a:schemeClr val="accent2"/>
                </a:solidFill>
              </a:rPr>
              <a:t>Ours, from the public data</a:t>
            </a:r>
            <a:endParaRPr lang="en-US" sz="2200" dirty="0"/>
          </a:p>
        </p:txBody>
      </p:sp>
      <p:sp>
        <p:nvSpPr>
          <p:cNvPr id="7" name="Text 4"/>
          <p:cNvSpPr txBox="1"/>
          <p:nvPr/>
        </p:nvSpPr>
        <p:spPr>
          <a:xfrm>
            <a:off x="7863840" y="3886200"/>
            <a:ext cx="3749040" cy="2011680"/>
          </a:xfrm>
          <a:prstGeom prst="rect">
            <a:avLst/>
          </a:prstGeom>
          <a:noFill/>
          <a:ln/>
        </p:spPr>
        <p:txBody>
          <a:bodyPr wrap="square" lIns="0" tIns="0" rIns="0" bIns="0" rtlCol="0" anchor="t"/>
          <a:lstStyle/>
          <a:p>
            <a:pPr indent="0" marL="0">
              <a:buNone/>
            </a:pPr>
            <a:r>
              <a:rPr lang="en-US" sz="2000" dirty="0">
                <a:solidFill>
                  <a:schemeClr val="tx2"/>
                </a:solidFill>
              </a:rPr>
              <a:t>19/19 cases above zero, 53/53 controls below zero. Each sample was scored without using itself.</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Four reproduction checks, all passing</a:t>
            </a:r>
            <a:endParaRPr lang="en-US" sz="3600" dirty="0"/>
          </a:p>
        </p:txBody>
      </p:sp>
      <p:graphicFrame>
        <p:nvGraphicFramePr>
          <p:cNvPr id="8" name="four check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931920"/>
                <a:gridCol w="3291840"/>
                <a:gridCol w="2651760"/>
                <a:gridCol w="1216152"/>
              </a:tblGrid>
              <a:tr h="731520">
                <a:tc>
                  <a:txBody>
                    <a:bodyPr/>
                    <a:lstStyle/>
                    <a:p>
                      <a:pPr indent="0" marL="0">
                        <a:buNone/>
                      </a:pPr>
                      <a:r>
                        <a:rPr lang="en-US" sz="2000" b="1" dirty="0">
                          <a:solidFill>
                            <a:srgbClr val="FFFFFF"/>
                          </a:solidFill>
                        </a:rPr>
                        <a:t>Check</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2000" b="1" dirty="0">
                          <a:solidFill>
                            <a:srgbClr val="FFFFFF"/>
                          </a:solidFill>
                        </a:rPr>
                        <a:t>Published</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2000" b="1" dirty="0">
                          <a:solidFill>
                            <a:srgbClr val="FFFFFF"/>
                          </a:solidFill>
                        </a:rPr>
                        <a:t>Ours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2000" b="1" dirty="0">
                          <a:solidFill>
                            <a:srgbClr val="FFFFFF"/>
                          </a:solidFill>
                        </a:rPr>
                        <a:t>Result</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731520">
                <a:tc>
                  <a:txBody>
                    <a:bodyPr/>
                    <a:lstStyle/>
                    <a:p>
                      <a:pPr indent="0" marL="0">
                        <a:buNone/>
                      </a:pPr>
                      <a:r>
                        <a:rPr lang="en-US" sz="2000" dirty="0">
                          <a:solidFill>
                            <a:srgbClr val="14213D"/>
                          </a:solidFill>
                        </a:rPr>
                        <a:t>Cases and controls separate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19 cases vs 53 controls, clean split</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19/19 and 53/53</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Pass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31520">
                <a:tc>
                  <a:txBody>
                    <a:bodyPr/>
                    <a:lstStyle/>
                    <a:p>
                      <a:pPr indent="0" marL="0">
                        <a:buNone/>
                      </a:pPr>
                      <a:r>
                        <a:rPr lang="en-US" sz="2000" dirty="0">
                          <a:solidFill>
                            <a:srgbClr val="14213D"/>
                          </a:solidFill>
                        </a:rPr>
                        <a:t>Similar disorder (Weaver) scores negative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2000" dirty="0">
                          <a:solidFill>
                            <a:srgbClr val="14213D"/>
                          </a:solidFill>
                        </a:rPr>
                        <a:t>8 of 8 negative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2000" dirty="0">
                          <a:solidFill>
                            <a:srgbClr val="14213D"/>
                          </a:solidFill>
                        </a:rPr>
                        <a:t>8/8 negative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2000" dirty="0">
                          <a:solidFill>
                            <a:srgbClr val="14213D"/>
                          </a:solidFill>
                        </a:rPr>
                        <a:t>Pass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r>
              <a:tr h="731520">
                <a:tc>
                  <a:txBody>
                    <a:bodyPr/>
                    <a:lstStyle/>
                    <a:p>
                      <a:pPr indent="0" marL="0">
                        <a:buNone/>
                      </a:pPr>
                      <a:r>
                        <a:rPr lang="en-US" sz="2000" dirty="0">
                          <a:solidFill>
                            <a:srgbClr val="14213D"/>
                          </a:solidFill>
                        </a:rPr>
                        <a:t>Unclear NSD1 variants split</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9 positive, 7 negative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9 positive, 7 negative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Pass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31520">
                <a:tc>
                  <a:txBody>
                    <a:bodyPr/>
                    <a:lstStyle/>
                    <a:p>
                      <a:pPr indent="0" marL="0">
                        <a:buNone/>
                      </a:pPr>
                      <a:r>
                        <a:rPr lang="en-US" sz="2000" dirty="0">
                          <a:solidFill>
                            <a:srgbClr val="14213D"/>
                          </a:solidFill>
                        </a:rPr>
                        <a:t>Held-out cases score positive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2000" dirty="0">
                          <a:solidFill>
                            <a:srgbClr val="14213D"/>
                          </a:solidFill>
                        </a:rPr>
                        <a:t>all positive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2000" dirty="0">
                          <a:solidFill>
                            <a:srgbClr val="14213D"/>
                          </a:solidFill>
                        </a:rPr>
                        <a:t>19 of 19 positive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2000" dirty="0">
                          <a:solidFill>
                            <a:srgbClr val="14213D"/>
                          </a:solidFill>
                        </a:rPr>
                        <a:t>Pass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r>
            </a:tbl>
          </a:graphicData>
        </a:graphic>
      </p:graphicFrame>
      <p:sp>
        <p:nvSpPr>
          <p:cNvPr id="4" name="Text 1"/>
          <p:cNvSpPr txBox="1"/>
          <p:nvPr/>
        </p:nvSpPr>
        <p:spPr>
          <a:xfrm>
            <a:off x="548640" y="5532120"/>
            <a:ext cx="11091672" cy="548640"/>
          </a:xfrm>
          <a:prstGeom prst="rect">
            <a:avLst/>
          </a:prstGeom>
          <a:noFill/>
          <a:ln/>
        </p:spPr>
        <p:txBody>
          <a:bodyPr wrap="square" lIns="0" tIns="0" rIns="0" bIns="0" rtlCol="0" anchor="t"/>
          <a:lstStyle/>
          <a:p>
            <a:pPr indent="0" marL="0">
              <a:buNone/>
            </a:pPr>
            <a:r>
              <a:rPr lang="en-US" sz="2400" b="1" dirty="0">
                <a:solidFill>
                  <a:schemeClr val="accent3"/>
                </a:solidFill>
              </a:rPr>
              <a:t>4 of 4 checks pass. The pipeline reproduces a published result exactly.</a:t>
            </a:r>
            <a:endParaRPr lang="en-US" sz="24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Finding 1: only 3 of 12 disorders span two studies</a:t>
            </a:r>
            <a:endParaRPr lang="en-US" sz="3600" dirty="0"/>
          </a:p>
        </p:txBody>
      </p:sp>
      <p:pic>
        <p:nvPicPr>
          <p:cNvPr id="3" name="Twelve disorders by verdict" descr="Twelve disorders by verdict">    </p:cNvPr>
          <p:cNvPicPr>
            <a:picLocks noChangeAspect="1"/>
          </p:cNvPicPr>
          <p:nvPr/>
        </p:nvPicPr>
        <p:blipFill>
          <a:blip r:embed="rId1"/>
          <a:stretch>
            <a:fillRect/>
          </a:stretch>
        </p:blipFill>
        <p:spPr>
          <a:xfrm>
            <a:off x="548640" y="1371600"/>
            <a:ext cx="7491510" cy="4846320"/>
          </a:xfrm>
          <a:prstGeom prst="rect">
            <a:avLst/>
          </a:prstGeom>
        </p:spPr>
      </p:pic>
      <p:sp>
        <p:nvSpPr>
          <p:cNvPr id="4" name="stat disorders have every case in one study, so disease and laboratory batch cannot be told apart"/>
          <p:cNvSpPr/>
          <p:nvPr/>
        </p:nvSpPr>
        <p:spPr>
          <a:xfrm>
            <a:off x="8321040" y="1463040"/>
            <a:ext cx="3291840" cy="2514600"/>
          </a:xfrm>
          <a:prstGeom prst="roundRect">
            <a:avLst>
              <a:gd name="adj" fmla="val 2909"/>
            </a:avLst>
          </a:prstGeom>
          <a:solidFill>
            <a:schemeClr val="bg2"/>
          </a:solidFill>
          <a:ln w="12700">
            <a:solidFill>
              <a:schemeClr val="bg2"/>
            </a:solidFill>
            <a:prstDash val="solid"/>
          </a:ln>
        </p:spPr>
      </p:sp>
      <p:sp>
        <p:nvSpPr>
          <p:cNvPr id="5" name="Text 2"/>
          <p:cNvSpPr txBox="1"/>
          <p:nvPr/>
        </p:nvSpPr>
        <p:spPr>
          <a:xfrm>
            <a:off x="8549640" y="1600200"/>
            <a:ext cx="2834640" cy="100584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7</a:t>
            </a:r>
            <a:endParaRPr lang="en-US" sz="5400" dirty="0"/>
          </a:p>
        </p:txBody>
      </p:sp>
      <p:sp>
        <p:nvSpPr>
          <p:cNvPr id="6" name="Text 3"/>
          <p:cNvSpPr txBox="1"/>
          <p:nvPr/>
        </p:nvSpPr>
        <p:spPr>
          <a:xfrm>
            <a:off x="8549640" y="2606040"/>
            <a:ext cx="2834640" cy="1280160"/>
          </a:xfrm>
          <a:prstGeom prst="rect">
            <a:avLst/>
          </a:prstGeom>
          <a:noFill/>
          <a:ln/>
        </p:spPr>
        <p:txBody>
          <a:bodyPr wrap="square" lIns="0" tIns="0" rIns="0" bIns="0" rtlCol="0" anchor="t"/>
          <a:lstStyle/>
          <a:p>
            <a:pPr indent="0" marL="0">
              <a:buNone/>
            </a:pPr>
            <a:r>
              <a:rPr lang="en-US" sz="2000" dirty="0">
                <a:solidFill>
                  <a:schemeClr val="tx2"/>
                </a:solidFill>
              </a:rPr>
              <a:t>disorders have every case in one study, so disease and laboratory batch cannot be told apart</a:t>
            </a:r>
            <a:endParaRPr lang="en-US" sz="2000" dirty="0"/>
          </a:p>
        </p:txBody>
      </p:sp>
      <p:sp>
        <p:nvSpPr>
          <p:cNvPr id="7" name="stat disorders have under 10 cases, too few for any signature"/>
          <p:cNvSpPr/>
          <p:nvPr/>
        </p:nvSpPr>
        <p:spPr>
          <a:xfrm>
            <a:off x="8321040" y="4160520"/>
            <a:ext cx="3291840" cy="2057400"/>
          </a:xfrm>
          <a:prstGeom prst="roundRect">
            <a:avLst>
              <a:gd name="adj" fmla="val 3556"/>
            </a:avLst>
          </a:prstGeom>
          <a:solidFill>
            <a:schemeClr val="bg2"/>
          </a:solidFill>
          <a:ln w="12700">
            <a:solidFill>
              <a:schemeClr val="bg2"/>
            </a:solidFill>
            <a:prstDash val="solid"/>
          </a:ln>
        </p:spPr>
      </p:sp>
      <p:sp>
        <p:nvSpPr>
          <p:cNvPr id="8" name="Text 5"/>
          <p:cNvSpPr txBox="1"/>
          <p:nvPr/>
        </p:nvSpPr>
        <p:spPr>
          <a:xfrm>
            <a:off x="8549640" y="4297680"/>
            <a:ext cx="2834640" cy="100584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2</a:t>
            </a:r>
            <a:endParaRPr lang="en-US" sz="5400" dirty="0"/>
          </a:p>
        </p:txBody>
      </p:sp>
      <p:sp>
        <p:nvSpPr>
          <p:cNvPr id="9" name="Text 6"/>
          <p:cNvSpPr txBox="1"/>
          <p:nvPr/>
        </p:nvSpPr>
        <p:spPr>
          <a:xfrm>
            <a:off x="8549640" y="5303520"/>
            <a:ext cx="2834640" cy="822960"/>
          </a:xfrm>
          <a:prstGeom prst="rect">
            <a:avLst/>
          </a:prstGeom>
          <a:noFill/>
          <a:ln/>
        </p:spPr>
        <p:txBody>
          <a:bodyPr wrap="square" lIns="0" tIns="0" rIns="0" bIns="0" rtlCol="0" anchor="t"/>
          <a:lstStyle/>
          <a:p>
            <a:pPr indent="0" marL="0">
              <a:buNone/>
            </a:pPr>
            <a:r>
              <a:rPr lang="en-US" sz="2000" dirty="0">
                <a:solidFill>
                  <a:schemeClr val="tx2"/>
                </a:solidFill>
              </a:rPr>
              <a:t>disorders have under 10 cases, too few for any signature</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Finding 2: 1 of 6 cross-study tests could be run</a:t>
            </a:r>
            <a:endParaRPr lang="en-US" sz="3600" dirty="0"/>
          </a:p>
        </p:txBody>
      </p:sp>
      <p:pic>
        <p:nvPicPr>
          <p:cNvPr id="3" name="Leave-one-study-out results" descr="Leave-one-study-out results">    </p:cNvPr>
          <p:cNvPicPr>
            <a:picLocks noChangeAspect="1"/>
          </p:cNvPicPr>
          <p:nvPr/>
        </p:nvPicPr>
        <p:blipFill>
          <a:blip r:embed="rId1"/>
          <a:stretch>
            <a:fillRect/>
          </a:stretch>
        </p:blipFill>
        <p:spPr>
          <a:xfrm>
            <a:off x="548640" y="1659511"/>
            <a:ext cx="7589520" cy="4270497"/>
          </a:xfrm>
          <a:prstGeom prst="rect">
            <a:avLst/>
          </a:prstGeom>
        </p:spPr>
      </p:pic>
      <p:sp>
        <p:nvSpPr>
          <p:cNvPr id="4" name="stat held-out Silver-Russell cases detected (27.8%); 6/6 controls correctly negative"/>
          <p:cNvSpPr/>
          <p:nvPr/>
        </p:nvSpPr>
        <p:spPr>
          <a:xfrm>
            <a:off x="8412480" y="1463040"/>
            <a:ext cx="3200400" cy="2514600"/>
          </a:xfrm>
          <a:prstGeom prst="roundRect">
            <a:avLst>
              <a:gd name="adj" fmla="val 2909"/>
            </a:avLst>
          </a:prstGeom>
          <a:solidFill>
            <a:schemeClr val="bg2"/>
          </a:solidFill>
          <a:ln w="12700">
            <a:solidFill>
              <a:schemeClr val="bg2"/>
            </a:solidFill>
            <a:prstDash val="solid"/>
          </a:ln>
        </p:spPr>
      </p:sp>
      <p:sp>
        <p:nvSpPr>
          <p:cNvPr id="5" name="Text 2"/>
          <p:cNvSpPr txBox="1"/>
          <p:nvPr/>
        </p:nvSpPr>
        <p:spPr>
          <a:xfrm>
            <a:off x="8641080" y="1600200"/>
            <a:ext cx="274320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5/18</a:t>
            </a:r>
            <a:endParaRPr lang="en-US" sz="5400" dirty="0"/>
          </a:p>
        </p:txBody>
      </p:sp>
      <p:sp>
        <p:nvSpPr>
          <p:cNvPr id="6" name="Text 3"/>
          <p:cNvSpPr txBox="1"/>
          <p:nvPr/>
        </p:nvSpPr>
        <p:spPr>
          <a:xfrm>
            <a:off x="8641080" y="2606040"/>
            <a:ext cx="2743200" cy="1280160"/>
          </a:xfrm>
          <a:prstGeom prst="rect">
            <a:avLst/>
          </a:prstGeom>
          <a:noFill/>
          <a:ln/>
        </p:spPr>
        <p:txBody>
          <a:bodyPr wrap="square" lIns="0" tIns="0" rIns="0" bIns="0" rtlCol="0" anchor="t"/>
          <a:lstStyle/>
          <a:p>
            <a:pPr indent="0" marL="0">
              <a:buNone/>
            </a:pPr>
            <a:r>
              <a:rPr lang="en-US" sz="2000" dirty="0">
                <a:solidFill>
                  <a:schemeClr val="tx2"/>
                </a:solidFill>
              </a:rPr>
              <a:t>held-out Silver-Russell cases detected (27.8%); 6/6 controls correctly negative</a:t>
            </a:r>
            <a:endParaRPr lang="en-US" sz="2000" dirty="0"/>
          </a:p>
        </p:txBody>
      </p:sp>
      <p:sp>
        <p:nvSpPr>
          <p:cNvPr id="7" name="Text 4"/>
          <p:cNvSpPr txBox="1"/>
          <p:nvPr/>
        </p:nvSpPr>
        <p:spPr>
          <a:xfrm>
            <a:off x="8412480" y="4160520"/>
            <a:ext cx="3200400" cy="2057400"/>
          </a:xfrm>
          <a:prstGeom prst="rect">
            <a:avLst/>
          </a:prstGeom>
          <a:noFill/>
          <a:ln/>
        </p:spPr>
        <p:txBody>
          <a:bodyPr wrap="square" lIns="0" tIns="0" rIns="0" bIns="0" rtlCol="0" anchor="t"/>
          <a:lstStyle/>
          <a:p>
            <a:pPr indent="0" marL="0">
              <a:buNone/>
            </a:pPr>
            <a:r>
              <a:rPr lang="en-US" sz="2000" b="1" dirty="0">
                <a:solidFill>
                  <a:schemeClr val="tx1"/>
                </a:solidFill>
              </a:rPr>
              <a:t>We ran one cross-study test, not three: one disorder, one direction. 2 of 3 eligible disorders have no cross-study result at all.</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Finding 3: classifiers that fire on the wrong group</a:t>
            </a:r>
            <a:endParaRPr lang="en-US" sz="3600" dirty="0"/>
          </a:p>
        </p:txBody>
      </p:sp>
      <p:pic>
        <p:nvPicPr>
          <p:cNvPr id="3" name="Cross-disorder heatmap" descr="Cross-disorder heatmap">    </p:cNvPr>
          <p:cNvPicPr>
            <a:picLocks noChangeAspect="1"/>
          </p:cNvPicPr>
          <p:nvPr/>
        </p:nvPicPr>
        <p:blipFill>
          <a:blip r:embed="rId1"/>
          <a:stretch>
            <a:fillRect/>
          </a:stretch>
        </p:blipFill>
        <p:spPr>
          <a:xfrm>
            <a:off x="548640" y="1325880"/>
            <a:ext cx="5743210" cy="4937760"/>
          </a:xfrm>
          <a:prstGeom prst="rect">
            <a:avLst/>
          </a:prstGeom>
        </p:spPr>
      </p:pic>
      <p:sp>
        <p:nvSpPr>
          <p:cNvPr id="4" name="stat of Kabuki cases are flagged by the CHARGE classifier (14 of 37)"/>
          <p:cNvSpPr/>
          <p:nvPr/>
        </p:nvSpPr>
        <p:spPr>
          <a:xfrm>
            <a:off x="8046720" y="1463040"/>
            <a:ext cx="3566160" cy="2240280"/>
          </a:xfrm>
          <a:prstGeom prst="roundRect">
            <a:avLst>
              <a:gd name="adj" fmla="val 3265"/>
            </a:avLst>
          </a:prstGeom>
          <a:solidFill>
            <a:schemeClr val="bg2"/>
          </a:solidFill>
          <a:ln w="12700">
            <a:solidFill>
              <a:schemeClr val="bg2"/>
            </a:solidFill>
            <a:prstDash val="solid"/>
          </a:ln>
        </p:spPr>
      </p:sp>
      <p:sp>
        <p:nvSpPr>
          <p:cNvPr id="5" name="Text 2"/>
          <p:cNvSpPr txBox="1"/>
          <p:nvPr/>
        </p:nvSpPr>
        <p:spPr>
          <a:xfrm>
            <a:off x="8275320" y="1600200"/>
            <a:ext cx="3108960" cy="100584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37.8%</a:t>
            </a:r>
            <a:endParaRPr lang="en-US" sz="5400" dirty="0"/>
          </a:p>
        </p:txBody>
      </p:sp>
      <p:sp>
        <p:nvSpPr>
          <p:cNvPr id="6" name="Text 3"/>
          <p:cNvSpPr txBox="1"/>
          <p:nvPr/>
        </p:nvSpPr>
        <p:spPr>
          <a:xfrm>
            <a:off x="8275320" y="2606040"/>
            <a:ext cx="3108960" cy="1005840"/>
          </a:xfrm>
          <a:prstGeom prst="rect">
            <a:avLst/>
          </a:prstGeom>
          <a:noFill/>
          <a:ln/>
        </p:spPr>
        <p:txBody>
          <a:bodyPr wrap="square" lIns="0" tIns="0" rIns="0" bIns="0" rtlCol="0" anchor="t"/>
          <a:lstStyle/>
          <a:p>
            <a:pPr indent="0" marL="0">
              <a:buNone/>
            </a:pPr>
            <a:r>
              <a:rPr lang="en-US" sz="2000" dirty="0">
                <a:solidFill>
                  <a:schemeClr val="tx2"/>
                </a:solidFill>
              </a:rPr>
              <a:t>of Kabuki cases are flagged by the CHARGE classifier (14 of 37)</a:t>
            </a:r>
            <a:endParaRPr lang="en-US" sz="2000" dirty="0"/>
          </a:p>
        </p:txBody>
      </p:sp>
      <p:sp>
        <p:nvSpPr>
          <p:cNvPr id="7" name="outlined rows note"/>
          <p:cNvSpPr/>
          <p:nvPr/>
        </p:nvSpPr>
        <p:spPr>
          <a:xfrm>
            <a:off x="8046720" y="3886200"/>
            <a:ext cx="3566160" cy="2331720"/>
          </a:xfrm>
          <a:prstGeom prst="roundRect">
            <a:avLst>
              <a:gd name="adj" fmla="val 3137"/>
            </a:avLst>
          </a:prstGeom>
          <a:solidFill>
            <a:schemeClr val="bg2"/>
          </a:solidFill>
          <a:ln w="12700">
            <a:solidFill>
              <a:schemeClr val="bg2"/>
            </a:solidFill>
            <a:prstDash val="solid"/>
          </a:ln>
        </p:spPr>
      </p:sp>
      <p:sp>
        <p:nvSpPr>
          <p:cNvPr id="8" name="Text 5"/>
          <p:cNvSpPr txBox="1"/>
          <p:nvPr/>
        </p:nvSpPr>
        <p:spPr>
          <a:xfrm>
            <a:off x="8275320" y="4069080"/>
            <a:ext cx="3108960" cy="411480"/>
          </a:xfrm>
          <a:prstGeom prst="rect">
            <a:avLst/>
          </a:prstGeom>
          <a:noFill/>
          <a:ln/>
        </p:spPr>
        <p:txBody>
          <a:bodyPr wrap="square" lIns="0" tIns="0" rIns="0" bIns="0" rtlCol="0" anchor="t"/>
          <a:lstStyle/>
          <a:p>
            <a:pPr indent="0" marL="0">
              <a:buNone/>
            </a:pPr>
            <a:r>
              <a:rPr lang="en-US" sz="2200" b="1" dirty="0">
                <a:solidFill>
                  <a:schemeClr val="accent2"/>
                </a:solidFill>
              </a:rPr>
              <a:t>Outlined rows</a:t>
            </a:r>
            <a:endParaRPr lang="en-US" sz="2200" dirty="0"/>
          </a:p>
        </p:txBody>
      </p:sp>
      <p:sp>
        <p:nvSpPr>
          <p:cNvPr id="9" name="Text 6"/>
          <p:cNvSpPr txBox="1"/>
          <p:nvPr/>
        </p:nvSpPr>
        <p:spPr>
          <a:xfrm>
            <a:off x="8275320" y="4526280"/>
            <a:ext cx="3108960" cy="1554480"/>
          </a:xfrm>
          <a:prstGeom prst="rect">
            <a:avLst/>
          </a:prstGeom>
          <a:noFill/>
          <a:ln/>
        </p:spPr>
        <p:txBody>
          <a:bodyPr wrap="square" lIns="0" tIns="0" rIns="0" bIns="0" rtlCol="0" anchor="t"/>
          <a:lstStyle/>
          <a:p>
            <a:pPr indent="0" marL="0">
              <a:buNone/>
            </a:pPr>
            <a:r>
              <a:rPr lang="en-US" sz="2000" dirty="0">
                <a:solidFill>
                  <a:schemeClr val="tx2"/>
                </a:solidFill>
              </a:rPr>
              <a:t>were trained against controls from another series. They light up almost everywhere.</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Finding 4: the controls-source effect</a:t>
            </a:r>
            <a:endParaRPr lang="en-US" sz="3600" dirty="0"/>
          </a:p>
        </p:txBody>
      </p:sp>
      <p:sp>
        <p:nvSpPr>
          <p:cNvPr id="3" name="stat of other disorders' cases flagged with same-series controls (8 classifiers)"/>
          <p:cNvSpPr/>
          <p:nvPr/>
        </p:nvSpPr>
        <p:spPr>
          <a:xfrm>
            <a:off x="548640" y="1463040"/>
            <a:ext cx="3383280" cy="2286000"/>
          </a:xfrm>
          <a:prstGeom prst="roundRect">
            <a:avLst>
              <a:gd name="adj" fmla="val 3200"/>
            </a:avLst>
          </a:prstGeom>
          <a:solidFill>
            <a:schemeClr val="bg2"/>
          </a:solidFill>
          <a:ln w="12700">
            <a:solidFill>
              <a:schemeClr val="bg2"/>
            </a:solidFill>
            <a:prstDash val="solid"/>
          </a:ln>
        </p:spPr>
      </p:sp>
      <p:sp>
        <p:nvSpPr>
          <p:cNvPr id="4" name="Text 2"/>
          <p:cNvSpPr txBox="1"/>
          <p:nvPr/>
        </p:nvSpPr>
        <p:spPr>
          <a:xfrm>
            <a:off x="777240" y="1600200"/>
            <a:ext cx="292608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11.9%</a:t>
            </a:r>
            <a:endParaRPr lang="en-US" sz="5400" dirty="0"/>
          </a:p>
        </p:txBody>
      </p:sp>
      <p:sp>
        <p:nvSpPr>
          <p:cNvPr id="5" name="Text 3"/>
          <p:cNvSpPr txBox="1"/>
          <p:nvPr/>
        </p:nvSpPr>
        <p:spPr>
          <a:xfrm>
            <a:off x="777240" y="2606040"/>
            <a:ext cx="2926080" cy="1051560"/>
          </a:xfrm>
          <a:prstGeom prst="rect">
            <a:avLst/>
          </a:prstGeom>
          <a:noFill/>
          <a:ln/>
        </p:spPr>
        <p:txBody>
          <a:bodyPr wrap="square" lIns="0" tIns="0" rIns="0" bIns="0" rtlCol="0" anchor="t"/>
          <a:lstStyle/>
          <a:p>
            <a:pPr indent="0" marL="0">
              <a:buNone/>
            </a:pPr>
            <a:r>
              <a:rPr lang="en-US" sz="2000" dirty="0">
                <a:solidFill>
                  <a:schemeClr val="tx2"/>
                </a:solidFill>
              </a:rPr>
              <a:t>of other disorders' cases flagged with same-series controls (8 classifiers)</a:t>
            </a:r>
            <a:endParaRPr lang="en-US" sz="2000" dirty="0"/>
          </a:p>
        </p:txBody>
      </p:sp>
      <p:sp>
        <p:nvSpPr>
          <p:cNvPr id="6" name="stat flagged with controls from another series (2 classifiers)"/>
          <p:cNvSpPr/>
          <p:nvPr/>
        </p:nvSpPr>
        <p:spPr>
          <a:xfrm>
            <a:off x="548640" y="3931920"/>
            <a:ext cx="3383280" cy="2286000"/>
          </a:xfrm>
          <a:prstGeom prst="roundRect">
            <a:avLst>
              <a:gd name="adj" fmla="val 3200"/>
            </a:avLst>
          </a:prstGeom>
          <a:solidFill>
            <a:schemeClr val="bg2"/>
          </a:solidFill>
          <a:ln w="12700">
            <a:solidFill>
              <a:schemeClr val="bg2"/>
            </a:solidFill>
            <a:prstDash val="solid"/>
          </a:ln>
        </p:spPr>
      </p:sp>
      <p:sp>
        <p:nvSpPr>
          <p:cNvPr id="7" name="Text 5"/>
          <p:cNvSpPr txBox="1"/>
          <p:nvPr/>
        </p:nvSpPr>
        <p:spPr>
          <a:xfrm>
            <a:off x="777240" y="4069080"/>
            <a:ext cx="2926080" cy="100584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68.1%</a:t>
            </a:r>
            <a:endParaRPr lang="en-US" sz="5400" dirty="0"/>
          </a:p>
        </p:txBody>
      </p:sp>
      <p:sp>
        <p:nvSpPr>
          <p:cNvPr id="8" name="Text 6"/>
          <p:cNvSpPr txBox="1"/>
          <p:nvPr/>
        </p:nvSpPr>
        <p:spPr>
          <a:xfrm>
            <a:off x="777240" y="5074920"/>
            <a:ext cx="2926080" cy="1051560"/>
          </a:xfrm>
          <a:prstGeom prst="rect">
            <a:avLst/>
          </a:prstGeom>
          <a:noFill/>
          <a:ln/>
        </p:spPr>
        <p:txBody>
          <a:bodyPr wrap="square" lIns="0" tIns="0" rIns="0" bIns="0" rtlCol="0" anchor="t"/>
          <a:lstStyle/>
          <a:p>
            <a:pPr indent="0" marL="0">
              <a:buNone/>
            </a:pPr>
            <a:r>
              <a:rPr lang="en-US" sz="2000" dirty="0">
                <a:solidFill>
                  <a:schemeClr val="tx2"/>
                </a:solidFill>
              </a:rPr>
              <a:t>flagged with controls from another series (2 classifiers)</a:t>
            </a:r>
            <a:endParaRPr lang="en-US" sz="2000" dirty="0"/>
          </a:p>
        </p:txBody>
      </p:sp>
      <p:graphicFrame>
        <p:nvGraphicFramePr>
          <p:cNvPr id="9" name="off-diagonal mean by classifier" descr="Bar chart of mean off-diagonal positive fraction per classifier"/>
          <p:cNvGraphicFramePr/>
          <p:nvPr/>
        </p:nvGraphicFramePr>
        <p:xfrm>
          <a:off x="4206240" y="1371600"/>
          <a:ext cx="7406640" cy="38404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206240" y="5303520"/>
            <a:ext cx="7406640" cy="914400"/>
          </a:xfrm>
          <a:prstGeom prst="rect">
            <a:avLst/>
          </a:prstGeom>
          <a:noFill/>
          <a:ln/>
        </p:spPr>
        <p:txBody>
          <a:bodyPr wrap="square" lIns="0" tIns="0" rIns="0" bIns="0" rtlCol="0" anchor="t"/>
          <a:lstStyle/>
          <a:p>
            <a:pPr indent="0" marL="0">
              <a:buNone/>
            </a:pPr>
            <a:r>
              <a:rPr lang="en-US" sz="2000" b="1" dirty="0">
                <a:solidFill>
                  <a:schemeClr val="accent2"/>
                </a:solidFill>
              </a:rPr>
              <a:t>Classifiers trained against out-of-series controls detect series membership, not disease. Coffin-Siris and Nicolaides-Baraitser are both in that category.</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Bring your own signature: five tests</a:t>
            </a:r>
            <a:endParaRPr lang="en-US" sz="3600" dirty="0"/>
          </a:p>
        </p:txBody>
      </p:sp>
      <p:graphicFrame>
        <p:nvGraphicFramePr>
          <p:cNvPr id="13" name="fixture results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297680"/>
                <a:gridCol w="6793992"/>
              </a:tblGrid>
              <a:tr h="621792">
                <a:tc>
                  <a:txBody>
                    <a:bodyPr/>
                    <a:lstStyle/>
                    <a:p>
                      <a:pPr indent="0" marL="0">
                        <a:buNone/>
                      </a:pPr>
                      <a:r>
                        <a:rPr lang="en-US" sz="2000" b="1" dirty="0">
                          <a:solidFill>
                            <a:srgbClr val="FFFFFF"/>
                          </a:solidFill>
                        </a:rPr>
                        <a:t>Signature submitted</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2000" b="1" dirty="0">
                          <a:solidFill>
                            <a:srgbClr val="FFFFFF"/>
                          </a:solidFill>
                        </a:rPr>
                        <a:t>Result across 12 disorders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621792">
                <a:tc>
                  <a:txBody>
                    <a:bodyPr/>
                    <a:lstStyle/>
                    <a:p>
                      <a:pPr indent="0" marL="0">
                        <a:buNone/>
                      </a:pPr>
                      <a:r>
                        <a:rPr lang="en-US" sz="2000" dirty="0">
                          <a:solidFill>
                            <a:srgbClr val="14213D"/>
                          </a:solidFill>
                        </a:rPr>
                        <a:t>500 real Sotos probes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Sotos; score 125 against 31 for the runner-up</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21792">
                <a:tc>
                  <a:txBody>
                    <a:bodyPr/>
                    <a:lstStyle/>
                    <a:p>
                      <a:pPr indent="0" marL="0">
                        <a:buNone/>
                      </a:pPr>
                      <a:r>
                        <a:rPr lang="en-US" sz="2000" dirty="0">
                          <a:solidFill>
                            <a:srgbClr val="14213D"/>
                          </a:solidFill>
                        </a:rPr>
                        <a:t>500 random probes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2000" dirty="0">
                          <a:solidFill>
                            <a:srgbClr val="14213D"/>
                          </a:solidFill>
                        </a:rPr>
                        <a:t>No match (though raw AUC reaches 1.00)</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r>
              <a:tr h="621792">
                <a:tc>
                  <a:txBody>
                    <a:bodyPr/>
                    <a:lstStyle/>
                    <a:p>
                      <a:pPr indent="0" marL="0">
                        <a:buNone/>
                      </a:pPr>
                      <a:r>
                        <a:rPr lang="en-US" sz="2000" dirty="0">
                          <a:solidFill>
                            <a:srgbClr val="14213D"/>
                          </a:solidFill>
                        </a:rPr>
                        <a:t>Sotos probes, directions inverted</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Sotos; 500 of 500 directions flagged as inverted</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21792">
                <a:tc>
                  <a:txBody>
                    <a:bodyPr/>
                    <a:lstStyle/>
                    <a:p>
                      <a:pPr indent="0" marL="0">
                        <a:buNone/>
                      </a:pPr>
                      <a:r>
                        <a:rPr lang="en-US" sz="2000" dirty="0">
                          <a:solidFill>
                            <a:srgbClr val="14213D"/>
                          </a:solidFill>
                        </a:rPr>
                        <a:t>20 Sotos probes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2000" dirty="0">
                          <a:solidFill>
                            <a:srgbClr val="14213D"/>
                          </a:solidFill>
                        </a:rPr>
                        <a:t>Sotos; score 26 against 11 for the runner-up; ceiling Moderate</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r>
              <a:tr h="621792">
                <a:tc>
                  <a:txBody>
                    <a:bodyPr/>
                    <a:lstStyle/>
                    <a:p>
                      <a:pPr indent="0" marL="0">
                        <a:buNone/>
                      </a:pPr>
                      <a:r>
                        <a:rPr lang="en-US" sz="2000" dirty="0">
                          <a:solidFill>
                            <a:srgbClr val="14213D"/>
                          </a:solidFill>
                        </a:rPr>
                        <a:t>500 probes not in the data</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2000" dirty="0">
                          <a:solidFill>
                            <a:srgbClr val="14213D"/>
                          </a:solidFill>
                        </a:rPr>
                        <a:t>Refused: too few usable probes</a:t>
                      </a:r>
                      <a:endParaRPr lang="en-US" sz="20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440680"/>
            <a:ext cx="11091672" cy="822960"/>
          </a:xfrm>
          <a:prstGeom prst="rect">
            <a:avLst/>
          </a:prstGeom>
          <a:noFill/>
          <a:ln/>
        </p:spPr>
        <p:txBody>
          <a:bodyPr wrap="square" lIns="0" tIns="0" rIns="0" bIns="0" rtlCol="0" anchor="t"/>
          <a:lstStyle/>
          <a:p>
            <a:pPr indent="0" marL="0">
              <a:buNone/>
            </a:pPr>
            <a:r>
              <a:rPr lang="en-US" sz="2200" b="1" dirty="0">
                <a:solidFill>
                  <a:schemeClr val="accent5"/>
                </a:solidFill>
              </a:rPr>
              <a:t>Random probes reach AUC 1.00 on Williams and at least 0.70 on 7 of 12 cohorts. AUC alone is unsafe here: the score against random probes is what makes "no match" work.</a:t>
            </a:r>
            <a:endParaRPr lang="en-US" sz="22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Live demo: test your own signature</a:t>
            </a:r>
            <a:endParaRPr lang="en-US" sz="3600" dirty="0"/>
          </a:p>
        </p:txBody>
      </p:sp>
      <p:pic>
        <p:nvPicPr>
          <p:cNvPr id="3" name="Screenshot of the Test your own signature page" descr="Screenshot of the Test your own signature page">    </p:cNvPr>
          <p:cNvPicPr>
            <a:picLocks noChangeAspect="1"/>
          </p:cNvPicPr>
          <p:nvPr/>
        </p:nvPicPr>
        <p:blipFill>
          <a:blip r:embed="rId1"/>
          <a:stretch>
            <a:fillRect/>
          </a:stretch>
        </p:blipFill>
        <p:spPr>
          <a:xfrm>
            <a:off x="548640" y="1371600"/>
            <a:ext cx="5204251" cy="4846320"/>
          </a:xfrm>
          <a:prstGeom prst="rect">
            <a:avLst/>
          </a:prstGeom>
        </p:spPr>
      </p:pic>
      <p:sp>
        <p:nvSpPr>
          <p:cNvPr id="4" name="Text 1"/>
          <p:cNvSpPr txBox="1"/>
          <p:nvPr/>
        </p:nvSpPr>
        <p:spPr>
          <a:xfrm>
            <a:off x="7406640" y="1554480"/>
            <a:ext cx="4206240" cy="39319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Upload a probe list, or pick an example</a:t>
            </a:r>
            <a:endParaRPr lang="en-US" sz="2000" dirty="0"/>
          </a:p>
          <a:p>
            <a:pPr marL="342900" indent="-342900">
              <a:spcAft>
                <a:spcPts val="1200"/>
              </a:spcAft>
              <a:buSzPct val="100000"/>
              <a:buChar char="•"/>
            </a:pPr>
            <a:r>
              <a:rPr lang="en-US" sz="2000" dirty="0">
                <a:solidFill>
                  <a:schemeClr val="tx1"/>
                </a:solidFill>
              </a:rPr>
              <a:t>Coverage on three array platforms</a:t>
            </a:r>
            <a:endParaRPr lang="en-US" sz="2000" dirty="0"/>
          </a:p>
          <a:p>
            <a:pPr marL="342900" indent="-342900">
              <a:spcAft>
                <a:spcPts val="1200"/>
              </a:spcAft>
              <a:buSzPct val="100000"/>
              <a:buChar char="•"/>
            </a:pPr>
            <a:r>
              <a:rPr lang="en-US" sz="2000" dirty="0">
                <a:solidFill>
                  <a:schemeClr val="tx1"/>
                </a:solidFill>
              </a:rPr>
              <a:t>A verdict that states how many disorders were searched</a:t>
            </a:r>
            <a:endParaRPr lang="en-US" sz="2000" dirty="0"/>
          </a:p>
          <a:p>
            <a:pPr marL="342900" indent="-342900">
              <a:spcAft>
                <a:spcPts val="1200"/>
              </a:spcAft>
              <a:buSzPct val="100000"/>
              <a:buChar char="•"/>
            </a:pPr>
            <a:r>
              <a:rPr lang="en-US" sz="2000" dirty="0">
                <a:solidFill>
                  <a:schemeClr val="tx1"/>
                </a:solidFill>
              </a:rPr>
              <a:t>A warning when the match is within one study only</a:t>
            </a:r>
            <a:endParaRPr lang="en-US" sz="2000" dirty="0"/>
          </a:p>
          <a:p>
            <a:pPr marL="342900" indent="-342900">
              <a:spcAft>
                <a:spcPts val="1200"/>
              </a:spcAft>
              <a:buSzPct val="100000"/>
              <a:buChar char="•"/>
            </a:pPr>
            <a:r>
              <a:rPr lang="en-US" sz="2000" dirty="0">
                <a:solidFill>
                  <a:schemeClr val="tx1"/>
                </a:solidFill>
              </a:rPr>
              <a:t>Runs offline from files in the repository</a:t>
            </a:r>
            <a:endParaRPr lang="en-US" sz="2000" dirty="0"/>
          </a:p>
        </p:txBody>
      </p:sp>
      <p:sp>
        <p:nvSpPr>
          <p:cNvPr id="5" name="Text 2"/>
          <p:cNvSpPr txBox="1"/>
          <p:nvPr/>
        </p:nvSpPr>
        <p:spPr>
          <a:xfrm>
            <a:off x="7406640" y="5532120"/>
            <a:ext cx="4206240" cy="685800"/>
          </a:xfrm>
          <a:prstGeom prst="rect">
            <a:avLst/>
          </a:prstGeom>
          <a:noFill/>
          <a:ln/>
        </p:spPr>
        <p:txBody>
          <a:bodyPr wrap="square" lIns="0" tIns="0" rIns="0" bIns="0" rtlCol="0" anchor="t"/>
          <a:lstStyle/>
          <a:p>
            <a:pPr indent="0" marL="0">
              <a:buNone/>
            </a:pPr>
            <a:r>
              <a:rPr lang="en-US" sz="2000" i="1" dirty="0">
                <a:solidFill>
                  <a:schemeClr val="tx2"/>
                </a:solidFill>
              </a:rPr>
              <a:t>Probe identifiers only. No patient data is ever accepted.</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What is ours and what is not</a:t>
            </a:r>
            <a:endParaRPr lang="en-US" sz="3600" dirty="0"/>
          </a:p>
        </p:txBody>
      </p:sp>
      <p:sp>
        <p:nvSpPr>
          <p:cNvPr id="3" name="Not ours panel"/>
          <p:cNvSpPr/>
          <p:nvPr/>
        </p:nvSpPr>
        <p:spPr>
          <a:xfrm>
            <a:off x="548640" y="1508760"/>
            <a:ext cx="5349240" cy="3703320"/>
          </a:xfrm>
          <a:prstGeom prst="roundRect">
            <a:avLst>
              <a:gd name="adj" fmla="val 1975"/>
            </a:avLst>
          </a:prstGeom>
          <a:solidFill>
            <a:schemeClr val="bg2"/>
          </a:solidFill>
          <a:ln w="12700">
            <a:solidFill>
              <a:schemeClr val="bg2"/>
            </a:solidFill>
            <a:prstDash val="solid"/>
          </a:ln>
        </p:spPr>
      </p:sp>
      <p:sp>
        <p:nvSpPr>
          <p:cNvPr id="4" name="Not ours marker"/>
          <p:cNvSpPr/>
          <p:nvPr/>
        </p:nvSpPr>
        <p:spPr>
          <a:xfrm>
            <a:off x="868680" y="1783080"/>
            <a:ext cx="457200" cy="457200"/>
          </a:xfrm>
          <a:prstGeom prst="ellipse">
            <a:avLst/>
          </a:prstGeom>
          <a:solidFill>
            <a:schemeClr val="accent4"/>
          </a:solidFill>
          <a:ln w="12700">
            <a:solidFill>
              <a:schemeClr val="accent4"/>
            </a:solidFill>
            <a:prstDash val="solid"/>
          </a:ln>
        </p:spPr>
      </p:sp>
      <p:sp>
        <p:nvSpPr>
          <p:cNvPr id="5" name="Text 3"/>
          <p:cNvSpPr txBox="1"/>
          <p:nvPr/>
        </p:nvSpPr>
        <p:spPr>
          <a:xfrm>
            <a:off x="1508760" y="1755648"/>
            <a:ext cx="4023360" cy="502920"/>
          </a:xfrm>
          <a:prstGeom prst="rect">
            <a:avLst/>
          </a:prstGeom>
          <a:noFill/>
          <a:ln/>
        </p:spPr>
        <p:txBody>
          <a:bodyPr wrap="square" lIns="0" tIns="0" rIns="0" bIns="0" rtlCol="0" anchor="ctr"/>
          <a:lstStyle/>
          <a:p>
            <a:pPr indent="0" marL="0">
              <a:buNone/>
            </a:pPr>
            <a:r>
              <a:rPr lang="en-US" sz="2600" b="1" dirty="0">
                <a:solidFill>
                  <a:schemeClr val="tx1"/>
                </a:solidFill>
              </a:rPr>
              <a:t>Not ours</a:t>
            </a:r>
            <a:endParaRPr lang="en-US" sz="2600" dirty="0"/>
          </a:p>
        </p:txBody>
      </p:sp>
      <p:sp>
        <p:nvSpPr>
          <p:cNvPr id="6" name="Text 4"/>
          <p:cNvSpPr txBox="1"/>
          <p:nvPr/>
        </p:nvSpPr>
        <p:spPr>
          <a:xfrm>
            <a:off x="868680" y="2514600"/>
            <a:ext cx="4709160" cy="25603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The calibration method (Pejaver 2022; a general tool is on CRAN)</a:t>
            </a:r>
            <a:endParaRPr lang="en-US" sz="2000" dirty="0"/>
          </a:p>
          <a:p>
            <a:pPr marL="342900" indent="-342900">
              <a:spcAft>
                <a:spcPts val="1200"/>
              </a:spcAft>
              <a:buSzPct val="100000"/>
              <a:buChar char="•"/>
            </a:pPr>
            <a:r>
              <a:rPr lang="en-US" sz="2000" dirty="0">
                <a:solidFill>
                  <a:schemeClr val="tx1"/>
                </a:solidFill>
              </a:rPr>
              <a:t>Testing one disorder against another (routine inside the private database)</a:t>
            </a:r>
            <a:endParaRPr lang="en-US" sz="2000" dirty="0"/>
          </a:p>
          <a:p>
            <a:pPr marL="342900" indent="-342900">
              <a:spcAft>
                <a:spcPts val="1200"/>
              </a:spcAft>
              <a:buSzPct val="100000"/>
              <a:buChar char="•"/>
            </a:pPr>
            <a:r>
              <a:rPr lang="en-US" sz="2000" dirty="0">
                <a:solidFill>
                  <a:schemeClr val="tx1"/>
                </a:solidFill>
              </a:rPr>
              <a:t>Using a language model to read dataset labels (published benchmarks exist)</a:t>
            </a:r>
            <a:endParaRPr lang="en-US" sz="2000" dirty="0"/>
          </a:p>
        </p:txBody>
      </p:sp>
      <p:sp>
        <p:nvSpPr>
          <p:cNvPr id="7" name="Ours panel"/>
          <p:cNvSpPr/>
          <p:nvPr/>
        </p:nvSpPr>
        <p:spPr>
          <a:xfrm>
            <a:off x="6172200" y="1508760"/>
            <a:ext cx="5349240" cy="3703320"/>
          </a:xfrm>
          <a:prstGeom prst="roundRect">
            <a:avLst>
              <a:gd name="adj" fmla="val 1975"/>
            </a:avLst>
          </a:prstGeom>
          <a:solidFill>
            <a:schemeClr val="bg2"/>
          </a:solidFill>
          <a:ln w="12700">
            <a:solidFill>
              <a:schemeClr val="bg2"/>
            </a:solidFill>
            <a:prstDash val="solid"/>
          </a:ln>
        </p:spPr>
      </p:sp>
      <p:sp>
        <p:nvSpPr>
          <p:cNvPr id="8" name="Ours marker"/>
          <p:cNvSpPr/>
          <p:nvPr/>
        </p:nvSpPr>
        <p:spPr>
          <a:xfrm>
            <a:off x="6492240" y="1783080"/>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7132320" y="1755648"/>
            <a:ext cx="4023360" cy="502920"/>
          </a:xfrm>
          <a:prstGeom prst="rect">
            <a:avLst/>
          </a:prstGeom>
          <a:noFill/>
          <a:ln/>
        </p:spPr>
        <p:txBody>
          <a:bodyPr wrap="square" lIns="0" tIns="0" rIns="0" bIns="0" rtlCol="0" anchor="ctr"/>
          <a:lstStyle/>
          <a:p>
            <a:pPr indent="0" marL="0">
              <a:buNone/>
            </a:pPr>
            <a:r>
              <a:rPr lang="en-US" sz="2600" b="1" dirty="0">
                <a:solidFill>
                  <a:schemeClr val="tx1"/>
                </a:solidFill>
              </a:rPr>
              <a:t>Ours</a:t>
            </a:r>
            <a:endParaRPr lang="en-US" sz="2600" dirty="0"/>
          </a:p>
        </p:txBody>
      </p:sp>
      <p:sp>
        <p:nvSpPr>
          <p:cNvPr id="10" name="Text 8"/>
          <p:cNvSpPr txBox="1"/>
          <p:nvPr/>
        </p:nvSpPr>
        <p:spPr>
          <a:xfrm>
            <a:off x="6492240" y="2514600"/>
            <a:ext cx="4709160" cy="25603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Every result regenerated from public data by one command</a:t>
            </a:r>
            <a:endParaRPr lang="en-US" sz="2000" dirty="0"/>
          </a:p>
          <a:p>
            <a:pPr marL="342900" indent="-342900">
              <a:spcAft>
                <a:spcPts val="1200"/>
              </a:spcAft>
              <a:buSzPct val="100000"/>
              <a:buChar char="•"/>
            </a:pPr>
            <a:r>
              <a:rPr lang="en-US" sz="2000" dirty="0">
                <a:solidFill>
                  <a:schemeClr val="tx1"/>
                </a:solidFill>
              </a:rPr>
              <a:t>The audit: 12 verdicts, 6 cross-study attempts, a full 12 by 13 matrix</a:t>
            </a:r>
            <a:endParaRPr lang="en-US" sz="2000" dirty="0"/>
          </a:p>
          <a:p>
            <a:pPr marL="342900" indent="-342900">
              <a:spcAft>
                <a:spcPts val="1200"/>
              </a:spcAft>
              <a:buSzPct val="100000"/>
              <a:buChar char="•"/>
            </a:pPr>
            <a:r>
              <a:rPr lang="en-US" sz="2000" dirty="0">
                <a:solidFill>
                  <a:schemeClr val="tx1"/>
                </a:solidFill>
              </a:rPr>
              <a:t>The identification engine with its random-probe control</a:t>
            </a:r>
            <a:endParaRPr lang="en-US" sz="2000" dirty="0"/>
          </a:p>
        </p:txBody>
      </p:sp>
      <p:sp>
        <p:nvSpPr>
          <p:cNvPr id="11" name="Text 9"/>
          <p:cNvSpPr txBox="1"/>
          <p:nvPr/>
        </p:nvSpPr>
        <p:spPr>
          <a:xfrm>
            <a:off x="548640" y="5486400"/>
            <a:ext cx="11091672" cy="548640"/>
          </a:xfrm>
          <a:prstGeom prst="rect">
            <a:avLst/>
          </a:prstGeom>
          <a:noFill/>
          <a:ln/>
        </p:spPr>
        <p:txBody>
          <a:bodyPr wrap="square" lIns="0" tIns="0" rIns="0" bIns="0" rtlCol="0" anchor="t"/>
          <a:lstStyle/>
          <a:p>
            <a:pPr indent="0" marL="0">
              <a:buNone/>
            </a:pPr>
            <a:r>
              <a:rPr lang="en-US" sz="2400" b="1" dirty="0">
                <a:solidFill>
                  <a:schemeClr val="accent5"/>
                </a:solidFill>
              </a:rPr>
              <a:t>Our claim is that this can be checked, not that the methods are new.</a:t>
            </a:r>
            <a:endParaRPr lang="en-US" sz="24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Limitations, before you ask</a:t>
            </a:r>
            <a:endParaRPr lang="en-US" sz="3600" dirty="0"/>
          </a:p>
        </p:txBody>
      </p:sp>
      <p:sp>
        <p:nvSpPr>
          <p:cNvPr id="3" name="limitation 1"/>
          <p:cNvSpPr/>
          <p:nvPr/>
        </p:nvSpPr>
        <p:spPr>
          <a:xfrm>
            <a:off x="548640" y="1508760"/>
            <a:ext cx="5349240" cy="2148840"/>
          </a:xfrm>
          <a:prstGeom prst="roundRect">
            <a:avLst>
              <a:gd name="adj" fmla="val 3404"/>
            </a:avLst>
          </a:prstGeom>
          <a:solidFill>
            <a:schemeClr val="bg2"/>
          </a:solidFill>
          <a:ln w="12700">
            <a:solidFill>
              <a:schemeClr val="bg2"/>
            </a:solidFill>
            <a:prstDash val="solid"/>
          </a:ln>
        </p:spPr>
      </p:sp>
      <p:sp>
        <p:nvSpPr>
          <p:cNvPr id="4" name="Text 2"/>
          <p:cNvSpPr txBox="1"/>
          <p:nvPr/>
        </p:nvSpPr>
        <p:spPr>
          <a:xfrm>
            <a:off x="868680" y="1737360"/>
            <a:ext cx="4709160" cy="457200"/>
          </a:xfrm>
          <a:prstGeom prst="rect">
            <a:avLst/>
          </a:prstGeom>
          <a:noFill/>
          <a:ln/>
        </p:spPr>
        <p:txBody>
          <a:bodyPr wrap="square" lIns="0" tIns="0" rIns="0" bIns="0" rtlCol="0" anchor="t"/>
          <a:lstStyle/>
          <a:p>
            <a:pPr indent="0" marL="0">
              <a:buNone/>
            </a:pPr>
            <a:r>
              <a:rPr lang="en-US" sz="2400" b="1" dirty="0">
                <a:solidFill>
                  <a:schemeClr val="accent6"/>
                </a:solidFill>
              </a:rPr>
              <a:t>Small numbers</a:t>
            </a:r>
            <a:endParaRPr lang="en-US" sz="2400" dirty="0"/>
          </a:p>
        </p:txBody>
      </p:sp>
      <p:sp>
        <p:nvSpPr>
          <p:cNvPr id="5" name="Text 3"/>
          <p:cNvSpPr txBox="1"/>
          <p:nvPr/>
        </p:nvSpPr>
        <p:spPr>
          <a:xfrm>
            <a:off x="868680" y="2286000"/>
            <a:ext cx="4709160" cy="1280160"/>
          </a:xfrm>
          <a:prstGeom prst="rect">
            <a:avLst/>
          </a:prstGeom>
          <a:noFill/>
          <a:ln/>
        </p:spPr>
        <p:txBody>
          <a:bodyPr wrap="square" lIns="0" tIns="0" rIns="0" bIns="0" rtlCol="0" anchor="t"/>
          <a:lstStyle/>
          <a:p>
            <a:pPr indent="0" marL="0">
              <a:buNone/>
            </a:pPr>
            <a:r>
              <a:rPr lang="en-US" sz="2000" dirty="0">
                <a:solidFill>
                  <a:schemeClr val="tx2"/>
                </a:solidFill>
              </a:rPr>
              <a:t>That one cross-study result rests on 18 cases and 6 controls.</a:t>
            </a:r>
            <a:endParaRPr lang="en-US" sz="2000" dirty="0"/>
          </a:p>
        </p:txBody>
      </p:sp>
      <p:sp>
        <p:nvSpPr>
          <p:cNvPr id="6" name="limitation 2"/>
          <p:cNvSpPr/>
          <p:nvPr/>
        </p:nvSpPr>
        <p:spPr>
          <a:xfrm>
            <a:off x="6172200" y="1508760"/>
            <a:ext cx="5349240" cy="2148840"/>
          </a:xfrm>
          <a:prstGeom prst="roundRect">
            <a:avLst>
              <a:gd name="adj" fmla="val 3404"/>
            </a:avLst>
          </a:prstGeom>
          <a:solidFill>
            <a:schemeClr val="bg2"/>
          </a:solidFill>
          <a:ln w="12700">
            <a:solidFill>
              <a:schemeClr val="bg2"/>
            </a:solidFill>
            <a:prstDash val="solid"/>
          </a:ln>
        </p:spPr>
      </p:sp>
      <p:sp>
        <p:nvSpPr>
          <p:cNvPr id="7" name="Text 5"/>
          <p:cNvSpPr txBox="1"/>
          <p:nvPr/>
        </p:nvSpPr>
        <p:spPr>
          <a:xfrm>
            <a:off x="6492240" y="1737360"/>
            <a:ext cx="4709160" cy="457200"/>
          </a:xfrm>
          <a:prstGeom prst="rect">
            <a:avLst/>
          </a:prstGeom>
          <a:noFill/>
          <a:ln/>
        </p:spPr>
        <p:txBody>
          <a:bodyPr wrap="square" lIns="0" tIns="0" rIns="0" bIns="0" rtlCol="0" anchor="t"/>
          <a:lstStyle/>
          <a:p>
            <a:pPr indent="0" marL="0">
              <a:buNone/>
            </a:pPr>
            <a:r>
              <a:rPr lang="en-US" sz="2400" b="1" dirty="0">
                <a:solidFill>
                  <a:schemeClr val="accent6"/>
                </a:solidFill>
              </a:rPr>
              <a:t>One cross-study test</a:t>
            </a:r>
            <a:endParaRPr lang="en-US" sz="2400" dirty="0"/>
          </a:p>
        </p:txBody>
      </p:sp>
      <p:sp>
        <p:nvSpPr>
          <p:cNvPr id="8" name="Text 6"/>
          <p:cNvSpPr txBox="1"/>
          <p:nvPr/>
        </p:nvSpPr>
        <p:spPr>
          <a:xfrm>
            <a:off x="6492240" y="2286000"/>
            <a:ext cx="4709160" cy="1280160"/>
          </a:xfrm>
          <a:prstGeom prst="rect">
            <a:avLst/>
          </a:prstGeom>
          <a:noFill/>
          <a:ln/>
        </p:spPr>
        <p:txBody>
          <a:bodyPr wrap="square" lIns="0" tIns="0" rIns="0" bIns="0" rtlCol="0" anchor="t"/>
          <a:lstStyle/>
          <a:p>
            <a:pPr indent="0" marL="0">
              <a:buNone/>
            </a:pPr>
            <a:r>
              <a:rPr lang="en-US" sz="2000" dirty="0">
                <a:solidFill>
                  <a:schemeClr val="tx2"/>
                </a:solidFill>
              </a:rPr>
              <a:t>Only 1 of 6 directions was computed. We are not claiming three disorders were tested across studies.</a:t>
            </a:r>
            <a:endParaRPr lang="en-US" sz="2000" dirty="0"/>
          </a:p>
        </p:txBody>
      </p:sp>
      <p:sp>
        <p:nvSpPr>
          <p:cNvPr id="9" name="limitation 3"/>
          <p:cNvSpPr/>
          <p:nvPr/>
        </p:nvSpPr>
        <p:spPr>
          <a:xfrm>
            <a:off x="548640" y="3886200"/>
            <a:ext cx="5349240" cy="2148840"/>
          </a:xfrm>
          <a:prstGeom prst="roundRect">
            <a:avLst>
              <a:gd name="adj" fmla="val 3404"/>
            </a:avLst>
          </a:prstGeom>
          <a:solidFill>
            <a:schemeClr val="bg2"/>
          </a:solidFill>
          <a:ln w="12700">
            <a:solidFill>
              <a:schemeClr val="bg2"/>
            </a:solidFill>
            <a:prstDash val="solid"/>
          </a:ln>
        </p:spPr>
      </p:sp>
      <p:sp>
        <p:nvSpPr>
          <p:cNvPr id="10" name="Text 8"/>
          <p:cNvSpPr txBox="1"/>
          <p:nvPr/>
        </p:nvSpPr>
        <p:spPr>
          <a:xfrm>
            <a:off x="868680" y="4114800"/>
            <a:ext cx="4709160" cy="457200"/>
          </a:xfrm>
          <a:prstGeom prst="rect">
            <a:avLst/>
          </a:prstGeom>
          <a:noFill/>
          <a:ln/>
        </p:spPr>
        <p:txBody>
          <a:bodyPr wrap="square" lIns="0" tIns="0" rIns="0" bIns="0" rtlCol="0" anchor="t"/>
          <a:lstStyle/>
          <a:p>
            <a:pPr indent="0" marL="0">
              <a:buNone/>
            </a:pPr>
            <a:r>
              <a:rPr lang="en-US" sz="2400" b="1" dirty="0">
                <a:solidFill>
                  <a:schemeClr val="accent6"/>
                </a:solidFill>
              </a:rPr>
              <a:t>Optimistic self-scores</a:t>
            </a:r>
            <a:endParaRPr lang="en-US" sz="2400" dirty="0"/>
          </a:p>
        </p:txBody>
      </p:sp>
      <p:sp>
        <p:nvSpPr>
          <p:cNvPr id="11" name="Text 9"/>
          <p:cNvSpPr txBox="1"/>
          <p:nvPr/>
        </p:nvSpPr>
        <p:spPr>
          <a:xfrm>
            <a:off x="868680" y="4663440"/>
            <a:ext cx="4709160" cy="1280160"/>
          </a:xfrm>
          <a:prstGeom prst="rect">
            <a:avLst/>
          </a:prstGeom>
          <a:noFill/>
          <a:ln/>
        </p:spPr>
        <p:txBody>
          <a:bodyPr wrap="square" lIns="0" tIns="0" rIns="0" bIns="0" rtlCol="0" anchor="t"/>
          <a:lstStyle/>
          <a:p>
            <a:pPr indent="0" marL="0">
              <a:buNone/>
            </a:pPr>
            <a:r>
              <a:rPr lang="en-US" sz="2000" dirty="0">
                <a:solidFill>
                  <a:schemeClr val="tx2"/>
                </a:solidFill>
              </a:rPr>
              <a:t>Probes were chosen using all training samples, so own-disorder sensitivity is flattering.</a:t>
            </a:r>
            <a:endParaRPr lang="en-US" sz="2000" dirty="0"/>
          </a:p>
        </p:txBody>
      </p:sp>
      <p:sp>
        <p:nvSpPr>
          <p:cNvPr id="12" name="limitation 4"/>
          <p:cNvSpPr/>
          <p:nvPr/>
        </p:nvSpPr>
        <p:spPr>
          <a:xfrm>
            <a:off x="6172200" y="3886200"/>
            <a:ext cx="5349240" cy="2148840"/>
          </a:xfrm>
          <a:prstGeom prst="roundRect">
            <a:avLst>
              <a:gd name="adj" fmla="val 3404"/>
            </a:avLst>
          </a:prstGeom>
          <a:solidFill>
            <a:schemeClr val="bg2"/>
          </a:solidFill>
          <a:ln w="12700">
            <a:solidFill>
              <a:schemeClr val="bg2"/>
            </a:solidFill>
            <a:prstDash val="solid"/>
          </a:ln>
        </p:spPr>
      </p:sp>
      <p:sp>
        <p:nvSpPr>
          <p:cNvPr id="13" name="Text 11"/>
          <p:cNvSpPr txBox="1"/>
          <p:nvPr/>
        </p:nvSpPr>
        <p:spPr>
          <a:xfrm>
            <a:off x="6492240" y="4114800"/>
            <a:ext cx="4709160" cy="457200"/>
          </a:xfrm>
          <a:prstGeom prst="rect">
            <a:avLst/>
          </a:prstGeom>
          <a:noFill/>
          <a:ln/>
        </p:spPr>
        <p:txBody>
          <a:bodyPr wrap="square" lIns="0" tIns="0" rIns="0" bIns="0" rtlCol="0" anchor="t"/>
          <a:lstStyle/>
          <a:p>
            <a:pPr indent="0" marL="0">
              <a:buNone/>
            </a:pPr>
            <a:r>
              <a:rPr lang="en-US" sz="2400" b="1" dirty="0">
                <a:solidFill>
                  <a:schemeClr val="accent6"/>
                </a:solidFill>
              </a:rPr>
              <a:t>Labels checked by AI only</a:t>
            </a:r>
            <a:endParaRPr lang="en-US" sz="2400" dirty="0"/>
          </a:p>
        </p:txBody>
      </p:sp>
      <p:sp>
        <p:nvSpPr>
          <p:cNvPr id="14" name="Text 12"/>
          <p:cNvSpPr txBox="1"/>
          <p:nvPr/>
        </p:nvSpPr>
        <p:spPr>
          <a:xfrm>
            <a:off x="6492240" y="4663440"/>
            <a:ext cx="4709160" cy="1280160"/>
          </a:xfrm>
          <a:prstGeom prst="rect">
            <a:avLst/>
          </a:prstGeom>
          <a:noFill/>
          <a:ln/>
        </p:spPr>
        <p:txBody>
          <a:bodyPr wrap="square" lIns="0" tIns="0" rIns="0" bIns="0" rtlCol="0" anchor="t"/>
          <a:lstStyle/>
          <a:p>
            <a:pPr indent="0" marL="0">
              <a:buNone/>
            </a:pPr>
            <a:r>
              <a:rPr lang="en-US" sz="2000" dirty="0">
                <a:solidFill>
                  <a:schemeClr val="tx2"/>
                </a:solidFill>
              </a:rPr>
              <a:t>Two AI-written rule sets agree on 81 of 81 samples. Human curation is still pending.</a:t>
            </a:r>
            <a:endParaRPr lang="en-US" sz="2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1672" cy="1737360"/>
          </a:xfrm>
          <a:prstGeom prst="rect">
            <a:avLst/>
          </a:prstGeom>
          <a:noFill/>
          <a:ln/>
        </p:spPr>
        <p:txBody>
          <a:bodyPr wrap="square" lIns="0" tIns="0" rIns="0" bIns="0" rtlCol="0" anchor="t"/>
          <a:lstStyle/>
          <a:p>
            <a:pPr algn="l" indent="0" marL="0">
              <a:buNone/>
            </a:pPr>
            <a:r>
              <a:rPr lang="en-US" sz="4400" b="1" dirty="0">
                <a:solidFill>
                  <a:schemeClr val="bg1"/>
                </a:solidFill>
              </a:rPr>
              <a:t>Public data support far less than within-study numbers suggest</a:t>
            </a:r>
            <a:endParaRPr lang="en-US" sz="4400" dirty="0"/>
          </a:p>
        </p:txBody>
      </p:sp>
      <p:sp>
        <p:nvSpPr>
          <p:cNvPr id="3" name="Text 1"/>
          <p:cNvSpPr txBox="1"/>
          <p:nvPr/>
        </p:nvSpPr>
        <p:spPr>
          <a:xfrm>
            <a:off x="548640" y="3429000"/>
            <a:ext cx="11091672" cy="20574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bg1"/>
                </a:solidFill>
              </a:rPr>
              <a:t>1 of 6 cross-study tests could be run; 2 of 3 eligible disorders were never tested across studies</a:t>
            </a:r>
            <a:endParaRPr lang="en-US" sz="2000" dirty="0"/>
          </a:p>
          <a:p>
            <a:pPr marL="342900" indent="-342900">
              <a:spcAft>
                <a:spcPts val="600"/>
              </a:spcAft>
              <a:buSzPct val="100000"/>
              <a:buChar char="•"/>
            </a:pPr>
            <a:r>
              <a:rPr lang="en-US" sz="2000" dirty="0">
                <a:solidFill>
                  <a:schemeClr val="bg1"/>
                </a:solidFill>
              </a:rPr>
              <a:t>Borrowed controls: 68.1% false positives on other disorders, against 11.9%</a:t>
            </a:r>
            <a:endParaRPr lang="en-US" sz="2000" dirty="0"/>
          </a:p>
          <a:p>
            <a:pPr marL="342900" indent="-342900">
              <a:spcAft>
                <a:spcPts val="600"/>
              </a:spcAft>
              <a:buSzPct val="100000"/>
              <a:buChar char="•"/>
            </a:pPr>
            <a:r>
              <a:rPr lang="en-US" sz="2000" dirty="0">
                <a:solidFill>
                  <a:schemeClr val="bg1"/>
                </a:solidFill>
              </a:rPr>
              <a:t>2 disorders have a between-study bound; both read "No evidence"</a:t>
            </a:r>
            <a:endParaRPr lang="en-US" sz="2000" dirty="0"/>
          </a:p>
          <a:p>
            <a:pPr marL="342900" indent="-342900">
              <a:spcAft>
                <a:spcPts val="600"/>
              </a:spcAft>
              <a:buSzPct val="100000"/>
              <a:buChar char="•"/>
            </a:pPr>
            <a:r>
              <a:rPr lang="en-US" sz="2000" dirty="0">
                <a:solidFill>
                  <a:schemeClr val="bg1"/>
                </a:solidFill>
              </a:rPr>
              <a:t>What the field needs: the same disorder from more than one site, with each site's own controls</a:t>
            </a:r>
            <a:endParaRPr lang="en-US" sz="2000" dirty="0"/>
          </a:p>
        </p:txBody>
      </p:sp>
      <p:sp>
        <p:nvSpPr>
          <p:cNvPr id="4" name="command panel"/>
          <p:cNvSpPr/>
          <p:nvPr/>
        </p:nvSpPr>
        <p:spPr>
          <a:xfrm>
            <a:off x="548640" y="5577840"/>
            <a:ext cx="11091672" cy="777240"/>
          </a:xfrm>
          <a:prstGeom prst="roundRect">
            <a:avLst>
              <a:gd name="adj" fmla="val 9412"/>
            </a:avLst>
          </a:prstGeom>
          <a:solidFill>
            <a:schemeClr val="tx2"/>
          </a:solidFill>
          <a:ln w="12700">
            <a:solidFill>
              <a:schemeClr val="tx2"/>
            </a:solidFill>
            <a:prstDash val="solid"/>
          </a:ln>
        </p:spPr>
      </p:sp>
      <p:sp>
        <p:nvSpPr>
          <p:cNvPr id="5" name="Text 3"/>
          <p:cNvSpPr txBox="1"/>
          <p:nvPr/>
        </p:nvSpPr>
        <p:spPr>
          <a:xfrm>
            <a:off x="822960" y="5577840"/>
            <a:ext cx="10543032" cy="777240"/>
          </a:xfrm>
          <a:prstGeom prst="rect">
            <a:avLst/>
          </a:prstGeom>
          <a:noFill/>
          <a:ln/>
        </p:spPr>
        <p:txBody>
          <a:bodyPr wrap="square" lIns="0" tIns="0" rIns="0" bIns="0" rtlCol="0" anchor="ctr"/>
          <a:lstStyle/>
          <a:p>
            <a:pPr indent="0" marL="0">
              <a:buNone/>
            </a:pPr>
            <a:r>
              <a:rPr lang="en-US" sz="2000" dirty="0">
                <a:solidFill>
                  <a:schemeClr val="bg1"/>
                </a:solidFill>
                <a:latin typeface="Courier New" pitchFamily="34" charset="0"/>
                <a:ea typeface="Courier New" pitchFamily="34" charset="-122"/>
                <a:cs typeface="Courier New" pitchFamily="34" charset="-120"/>
              </a:rPr>
              <a:t>python scripts/reproduce.py</a:t>
            </a:r>
            <a:endParaRPr lang="en-US" sz="2000" dirty="0"/>
          </a:p>
          <a:p>
            <a:pPr indent="0" marL="0">
              <a:buNone/>
            </a:pPr>
            <a:r>
              <a:rPr lang="en-US" sz="2000" dirty="0">
                <a:solidFill>
                  <a:schemeClr val="bg1"/>
                </a:solidFill>
                <a:latin typeface="Courier New" pitchFamily="34" charset="0"/>
                <a:ea typeface="Courier New" pitchFamily="34" charset="-122"/>
                <a:cs typeface="Courier New" pitchFamily="34" charset="-120"/>
              </a:rPr>
              <a:t>github.com/cleverlyblue0009/EpiGrade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600" b="1" dirty="0">
                <a:solidFill>
                  <a:schemeClr val="tx1"/>
                </a:solidFill>
              </a:rPr>
              <a:t>Backup: methods, thresholds and data</a:t>
            </a:r>
            <a:endParaRPr lang="en-US" sz="3600" dirty="0"/>
          </a:p>
        </p:txBody>
      </p:sp>
      <p:graphicFrame>
        <p:nvGraphicFramePr>
          <p:cNvPr id="18" name="method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834640"/>
                <a:gridCol w="8257032"/>
              </a:tblGrid>
              <a:tr h="603504">
                <a:tc>
                  <a:txBody>
                    <a:bodyPr/>
                    <a:lstStyle/>
                    <a:p>
                      <a:pPr indent="0" marL="0">
                        <a:buNone/>
                      </a:pPr>
                      <a:r>
                        <a:rPr lang="en-US" sz="1600" b="1" dirty="0">
                          <a:solidFill>
                            <a:srgbClr val="FFFFFF"/>
                          </a:solidFill>
                        </a:rPr>
                        <a:t>Item</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rPr>
                        <a:t>Detail</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603504">
                <a:tc>
                  <a:txBody>
                    <a:bodyPr/>
                    <a:lstStyle/>
                    <a:p>
                      <a:pPr indent="0" marL="0">
                        <a:buNone/>
                      </a:pPr>
                      <a:r>
                        <a:rPr lang="en-US" sz="1600" dirty="0">
                          <a:solidFill>
                            <a:srgbClr val="14213D"/>
                          </a:solidFill>
                        </a:rPr>
                        <a:t>Scoring rule</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Correlation with case profile minus correlation with control profile (Choufani 2015)</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03504">
                <a:tc>
                  <a:txBody>
                    <a:bodyPr/>
                    <a:lstStyle/>
                    <a:p>
                      <a:pPr indent="0" marL="0">
                        <a:buNone/>
                      </a:pPr>
                      <a:r>
                        <a:rPr lang="en-US" sz="1600" dirty="0">
                          <a:solidFill>
                            <a:srgbClr val="14213D"/>
                          </a:solidFill>
                        </a:rPr>
                        <a:t>Signature threshold</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1600" dirty="0">
                          <a:solidFill>
                            <a:srgbClr val="14213D"/>
                          </a:solidFill>
                        </a:rPr>
                        <a:t>Mann-Whitney test, false discovery rate 0.05, at least 10% methylation difference. Changed once, from Bonferroni and 20%.</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r>
              <a:tr h="603504">
                <a:tc>
                  <a:txBody>
                    <a:bodyPr/>
                    <a:lstStyle/>
                    <a:p>
                      <a:pPr indent="0" marL="0">
                        <a:buNone/>
                      </a:pPr>
                      <a:r>
                        <a:rPr lang="en-US" sz="1600" dirty="0">
                          <a:solidFill>
                            <a:srgbClr val="14213D"/>
                          </a:solidFill>
                        </a:rPr>
                        <a:t>Minimums</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10 cases to attempt a signature; 10 probes to keep one</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03504">
                <a:tc>
                  <a:txBody>
                    <a:bodyPr/>
                    <a:lstStyle/>
                    <a:p>
                      <a:pPr indent="0" marL="0">
                        <a:buNone/>
                      </a:pPr>
                      <a:r>
                        <a:rPr lang="en-US" sz="1600" dirty="0">
                          <a:solidFill>
                            <a:srgbClr val="14213D"/>
                          </a:solidFill>
                        </a:rPr>
                        <a:t>Evidence scale</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1600" dirty="0">
                          <a:solidFill>
                            <a:srgbClr val="14213D"/>
                          </a:solidFill>
                        </a:rPr>
                        <a:t>Likelihood ratio to points, base 2.08 (Tavtigian 2018); band from the conservative bound</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r>
              <a:tr h="603504">
                <a:tc>
                  <a:txBody>
                    <a:bodyPr/>
                    <a:lstStyle/>
                    <a:p>
                      <a:pPr indent="0" marL="0">
                        <a:buNone/>
                      </a:pPr>
                      <a:r>
                        <a:rPr lang="en-US" sz="1600" dirty="0">
                          <a:solidFill>
                            <a:srgbClr val="14213D"/>
                          </a:solidFill>
                        </a:rPr>
                        <a:t>Samples</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3,732 harvested, 1,622 retained, 2,110 excluded</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03504">
                <a:tc>
                  <a:txBody>
                    <a:bodyPr/>
                    <a:lstStyle/>
                    <a:p>
                      <a:pPr indent="0" marL="0">
                        <a:buNone/>
                      </a:pPr>
                      <a:r>
                        <a:rPr lang="en-US" sz="1600" dirty="0">
                          <a:solidFill>
                            <a:srgbClr val="14213D"/>
                          </a:solidFill>
                        </a:rPr>
                        <a:t>Disease datasets (GEO)</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c>
                  <a:txBody>
                    <a:bodyPr/>
                    <a:lstStyle/>
                    <a:p>
                      <a:pPr indent="0" marL="0">
                        <a:buNone/>
                      </a:pPr>
                      <a:r>
                        <a:rPr lang="en-US" sz="1600" dirty="0">
                          <a:solidFill>
                            <a:srgbClr val="14213D"/>
                          </a:solidFill>
                        </a:rPr>
                        <a:t>GSE74432, GSE104451, GSE55491, GSE116300, GSE97362, GSE66552, GSE95040, GSE108423, GSE116992, GSE125367, GSE52588</a:t>
                      </a:r>
                      <a:endParaRPr lang="en-US" sz="1600" dirty="0"/>
                    </a:p>
                  </a:txBody>
                  <a:tcPr marL="101600" marR="101600" marT="50800" marB="508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1F4F9"/>
                    </a:solidFill>
                  </a:tcPr>
                </a:tc>
              </a:tr>
            </a:tbl>
          </a:graphicData>
        </a:graphic>
      </p:graphicFrame>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984"/>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EpiGrade">
  <a:themeElements>
    <a:clrScheme name="EpiGrade">
      <a:dk1>
        <a:srgbClr val="14213D"/>
      </a:dk1>
      <a:lt1>
        <a:srgbClr val="FFFFFF"/>
      </a:lt1>
      <a:dk2>
        <a:srgbClr val="3D4A63"/>
      </a:dk2>
      <a:lt2>
        <a:srgbClr val="F1F4F9"/>
      </a:lt2>
      <a:accent1>
        <a:srgbClr val="2A78D6"/>
      </a:accent1>
      <a:accent2>
        <a:srgbClr val="EB6834"/>
      </a:accent2>
      <a:accent3>
        <a:srgbClr val="1BAF7A"/>
      </a:accent3>
      <a:accent4>
        <a:srgbClr val="8A8984"/>
      </a:accent4>
      <a:accent5>
        <a:srgbClr val="0D366B"/>
      </a:accent5>
      <a:accent6>
        <a:srgbClr val="D03B3B"/>
      </a:accent6>
      <a:hlink>
        <a:srgbClr val="2A78D6"/>
      </a:hlink>
      <a:folHlink>
        <a:srgbClr val="4A3AA7"/>
      </a:folHlink>
    </a:clrScheme>
    <a:fontScheme name="EpiGra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EpiGrade: an open, reproducible benchmark for episignature classifiers</dc:title>
  <dc:subject>PptxGenJS Presentation</dc:subject>
  <dc:creator>Upasana Bhaumik, Samhitaa Saravanakumar, Divyanjali Tyagi</dc:creator>
  <cp:lastModifiedBy>Upasana Bhaumik, Samhitaa Saravanakumar, Divyanjali Tyagi</cp:lastModifiedBy>
  <cp:revision>1</cp:revision>
  <dcterms:created xsi:type="dcterms:W3CDTF">2026-10-10T08:58:09Z</dcterms:created>
  <dcterms:modified xsi:type="dcterms:W3CDTF">2026-10-10T08:58:09Z</dcterms:modified>
</cp:coreProperties>
</file>