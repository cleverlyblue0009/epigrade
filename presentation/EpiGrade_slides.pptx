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id="{3a4d46ea-a37b-9787-87ac-f9c8f2c08467}">
          <p14:sldIdLst>
            <p14:sldId id="256"/>
            <p14:sldId id="257"/>
            <p14:sldId id="258"/>
            <p14:sldId id="259"/>
          </p14:sldIdLst>
        </p14:section>
        <p14:section name="What we built" id="{127fe7a3-390d-43eb-7cb5-b73bf29c263b}">
          <p14:sldIdLst>
            <p14:sldId id="260"/>
            <p14:sldId id="261"/>
            <p14:sldId id="262"/>
          </p14:sldIdLst>
        </p14:section>
        <p14:section name="Findings" id="{6a1da79b-8530-9864-3a2b-affdb298c5a9}">
          <p14:sldIdLst>
            <p14:sldId id="263"/>
            <p14:sldId id="264"/>
            <p14:sldId id="265"/>
          </p14:sldIdLst>
        </p14:section>
        <p14:section name="Identification engine" id="{f0133613-a88a-cc0e-1d81-c7c64e498469}">
          <p14:sldIdLst>
            <p14:sldId id="266"/>
            <p14:sldId id="267"/>
          </p14:sldIdLst>
        </p14:section>
        <p14:section name="Honest accounting" id="{4f538463-5158-1890-97ba-3992e082dc18}">
          <p14:sldIdLst>
            <p14:sldId id="268"/>
            <p14:sldId id="269"/>
          </p14:sldIdLst>
        </p14:section>
        <p14:section name="Close" id="{be38c1c4-47f6-6513-18f3-21968a6c497f}">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Upasana, Samhitaa and Divyanjali from VIT Vellore. Our project is called EpiGrade. It checks, using only public data, how far a new kind of genetic test can be trusted. We will show what we built, three things we found, and a live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patient. A child has a developmental disorder, and doctors read the child's DNA to find the cause. Often they find a change that is rare and sits in a sensible gene, but nobody can say whether it causes disease. That result is called a variant of uncertain significance. For the family it means no diagnosis and no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second way to test. Some disease genes control small chemical tags on DNA, a process called methylation. When one of these genes stops working, the pattern of tags across the genome changes in a characteristic way. That pattern is called an episignature. If a patient with an unclear variant shows the pattern, the variant is probably harmful, and if not, it is probably harmless.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catch. These tests are validated against one private reference database, and laboratories outside cannot inspect it. One study reported 34 signatures across 42 syndromes. But when an independent French group re-tested ten published signatures with new patients, two of them detected fewer than 40 percent of cases. So we asked how much can be confirmed using only data that anyone can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four things. First, a collection of public samples where every sample we excluded has a written reason. Second, signatures for ten disorders: one published signature that we reproduced, and nine that we derived ourselves under a single fixed rule. Third, an audit that tests each signature across studies and against every other disorder, and converts scores into evidence strength. Fourth, a tool where anyone can upload their own signature and 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auditing anything, we had to show our pipeline is correct. The Sotos syndrome signature, published by Choufani and colleagues in 2015, comes with its full probe list, its scoring rule and its data. We rebuilt it from the public files. Every case scores above zero and every control below zero, exactly as published. Each sample was scored against profiles built without it, so the result is not inflated.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checked four things against the paper. Cases and controls separate. Eight patients with Weaver syndrome, which looks similar but has a different cause, all score negative. Sixteen unclear variants in the NSD1 gene split nine positive and seven negative, exactly as published. And nineteen cases that were never used to build the classifier all score positive. All four checks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finding is about the data itself. Of twelve disorders, seven have all their cases in a single study. In that situation a difference between cases and controls could be the disease, or it could just be how that laboratory processed its samples, and we cannot tell which. Two more disorders have fewer than ten cases, which is too few to build anything. Only three disorders have cases in two independent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test is to build a signature in one study and try it in another. This is called leave-one-study-out. Across the three eligible disorders that gives six attempts. Only one could be run, and it found five of eighteen held-out cases. The other five could not be run because one study alone did not have enough samples to build a signature. So for these disorders, transfer between laboratories is not confirmed by public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we scored every classifier against every disorder and against 273 healthy controls. A good classifier lights up only its own square on the diagonal. The CHARGE syndrome classifier also flags about 38 percent of Kabuki syndrome cases. And one classifier, built using controls borrowed from a different laboratory, flags 86 percent of healthy controls. It is detecting the laboratory, not the disease, yet its own-study numbers look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feature our supervisor asked for. A laboratory uploads its own list of probes, and the engine searches all twelve disorders. We tested it with five signatures made from real data. The real Sotos probes identify Sotos, even when we flip every direction, which the tool flags. Five hundred random probes give no match. That last one taught us something: random probes separate Sotos cases perfectly by the usual measure, the area under the curve, so we added a comparison against random probe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itself, and we will now show it live. You upload a probe list or choose one of the five examples. It reports how many probes exist on each array type, then the verdict, and it always says how many disorders it searched. Here it identifies Sotos syndrome and warns that the match is within a single study. The page runs offline and only ever takes probe identifiers, never patient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exact about our contribution. The calibration method is not ours: it follows Pejaver and colleagues, and a general package already exists. Testing one disorder against another is routine inside the private database. Using a language model to read dataset labels has published benchmarks. What is ours is that every result can be regenerated from public data with one command, the audit itself, and the identification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rather tell you the weaknesses ourselves. The main cross-study result is based on only eighteen cases and six controls. Three signatures used controls that are not ordinary matched controls, and we flag them rather than trust them. Scores on a classifier's own disorder are optimistic, because the probes were chosen using those same samples. And our label check compares two computer-written rule sets, so a human review is still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Results measured inside one study look far stronger than public data can confirm. Only one cross-study test in six could be run, and the two disorders we could assess across studies earned no evidence. The fix is not a new method. It is data: the same disorder deposited by more than one site, each with its own controls. Everything we showed can be regenerated with the one command on this slide.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backup slide is for questions on method. The scoring rule is the published one: correlation with the case profile minus correlation with the control profile. Signatures use a Mann-Whitney test with a false discovery rate of five percent and a ten percent difference floor, and that threshold was changed exactly once. All data come from the Gene Expression Omnibus, a public archive, under the accession numbers listed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1672"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200" dirty="0">
                <a:solidFill>
                  <a:srgbClr val="8A8984"/>
                </a:solidFill>
              </a:rPr>
              <a:t>EpiGrade  |  research tool, not for patient use</a:t>
            </a:r>
            <a:endParaRPr lang="en-US" sz="12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1672" cy="1737360"/>
          </a:xfrm>
          <a:prstGeom prst="rect">
            <a:avLst/>
          </a:prstGeom>
          <a:noFill/>
          <a:ln/>
        </p:spPr>
        <p:txBody>
          <a:bodyPr wrap="square" lIns="0" tIns="0" rIns="0" bIns="0" rtlCol="0" anchor="t"/>
          <a:lstStyle/>
          <a:p>
            <a:pPr algn="l" indent="0" marL="0">
              <a:buNone/>
            </a:pPr>
            <a:r>
              <a:rPr lang="en-US" sz="4400" b="1" dirty="0">
                <a:solidFill>
                  <a:schemeClr val="bg1"/>
                </a:solidFill>
              </a:rPr>
              <a:t>EpiGrade</a:t>
            </a:r>
            <a:endParaRPr lang="en-US" sz="4400" dirty="0"/>
          </a:p>
        </p:txBody>
      </p:sp>
      <p:sp>
        <p:nvSpPr>
          <p:cNvPr id="3" name="Text 1"/>
          <p:cNvSpPr txBox="1"/>
          <p:nvPr/>
        </p:nvSpPr>
        <p:spPr>
          <a:xfrm>
            <a:off x="548640" y="3063240"/>
            <a:ext cx="9601200" cy="1097280"/>
          </a:xfrm>
          <a:prstGeom prst="rect">
            <a:avLst/>
          </a:prstGeom>
          <a:noFill/>
          <a:ln/>
        </p:spPr>
        <p:txBody>
          <a:bodyPr wrap="square" lIns="0" tIns="0" rIns="0" bIns="0" rtlCol="0" anchor="t"/>
          <a:lstStyle/>
          <a:p>
            <a:pPr indent="0" marL="0">
              <a:buNone/>
            </a:pPr>
            <a:r>
              <a:rPr lang="en-US" sz="2800" dirty="0">
                <a:solidFill>
                  <a:schemeClr val="bg2"/>
                </a:solidFill>
              </a:rPr>
              <a:t>An open, reproducible benchmark for DNA methylation episignature classifiers</a:t>
            </a:r>
            <a:endParaRPr lang="en-US" sz="2800" dirty="0"/>
          </a:p>
        </p:txBody>
      </p:sp>
      <p:sp>
        <p:nvSpPr>
          <p:cNvPr id="4" name="Text 2"/>
          <p:cNvSpPr txBox="1"/>
          <p:nvPr/>
        </p:nvSpPr>
        <p:spPr>
          <a:xfrm>
            <a:off x="548640" y="4480560"/>
            <a:ext cx="6400800" cy="1371600"/>
          </a:xfrm>
          <a:prstGeom prst="rect">
            <a:avLst/>
          </a:prstGeom>
          <a:noFill/>
          <a:ln/>
        </p:spPr>
        <p:txBody>
          <a:bodyPr wrap="square" lIns="0" tIns="0" rIns="0" bIns="0" rtlCol="0" anchor="t"/>
          <a:lstStyle/>
          <a:p>
            <a:pPr indent="0" marL="0">
              <a:buNone/>
            </a:pPr>
            <a:r>
              <a:rPr lang="en-US" sz="2200" dirty="0">
                <a:solidFill>
                  <a:schemeClr val="bg1"/>
                </a:solidFill>
              </a:rPr>
              <a:t>Upasana Bhaumik (23BCB0074)</a:t>
            </a:r>
            <a:endParaRPr lang="en-US" sz="2200" dirty="0"/>
          </a:p>
          <a:p>
            <a:pPr indent="0" marL="0">
              <a:buNone/>
            </a:pPr>
            <a:r>
              <a:rPr lang="en-US" sz="2200" dirty="0">
                <a:solidFill>
                  <a:schemeClr val="bg1"/>
                </a:solidFill>
              </a:rPr>
              <a:t>Samhitaa Saravanakumar (23BCB0125)</a:t>
            </a:r>
            <a:endParaRPr lang="en-US" sz="2200" dirty="0"/>
          </a:p>
          <a:p>
            <a:pPr indent="0" marL="0">
              <a:buNone/>
            </a:pPr>
            <a:r>
              <a:rPr lang="en-US" sz="2200" dirty="0">
                <a:solidFill>
                  <a:schemeClr val="bg1"/>
                </a:solidFill>
              </a:rPr>
              <a:t>Divyanjali Tyagi (23BCB0123)</a:t>
            </a:r>
            <a:endParaRPr lang="en-US" sz="2200" dirty="0"/>
          </a:p>
        </p:txBody>
      </p:sp>
      <p:sp>
        <p:nvSpPr>
          <p:cNvPr id="5" name="Text 3"/>
          <p:cNvSpPr txBox="1"/>
          <p:nvPr/>
        </p:nvSpPr>
        <p:spPr>
          <a:xfrm>
            <a:off x="548640" y="5943600"/>
            <a:ext cx="8229600" cy="411480"/>
          </a:xfrm>
          <a:prstGeom prst="rect">
            <a:avLst/>
          </a:prstGeom>
          <a:noFill/>
          <a:ln/>
        </p:spPr>
        <p:txBody>
          <a:bodyPr wrap="square" lIns="0" tIns="0" rIns="0" bIns="0" rtlCol="0" anchor="t"/>
          <a:lstStyle/>
          <a:p>
            <a:pPr indent="0" marL="0">
              <a:buNone/>
            </a:pPr>
            <a:r>
              <a:rPr lang="en-US" sz="2000" dirty="0">
                <a:solidFill>
                  <a:schemeClr val="bg2"/>
                </a:solidFill>
              </a:rPr>
              <a:t>Vellore Institute of Technology (VIT), Vellore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A child, a DNA change, and no answer</a:t>
            </a:r>
            <a:endParaRPr lang="en-US" sz="3600" dirty="0"/>
          </a:p>
        </p:txBody>
      </p:sp>
      <p:sp>
        <p:nvSpPr>
          <p:cNvPr id="3" name="step 1"/>
          <p:cNvSpPr/>
          <p:nvPr/>
        </p:nvSpPr>
        <p:spPr>
          <a:xfrm>
            <a:off x="548640" y="1600200"/>
            <a:ext cx="3474720" cy="3931920"/>
          </a:xfrm>
          <a:prstGeom prst="roundRect">
            <a:avLst>
              <a:gd name="adj" fmla="val 2105"/>
            </a:avLst>
          </a:prstGeom>
          <a:solidFill>
            <a:schemeClr val="bg2"/>
          </a:solidFill>
          <a:ln w="12700">
            <a:solidFill>
              <a:schemeClr val="bg2"/>
            </a:solidFill>
            <a:prstDash val="solid"/>
          </a:ln>
        </p:spPr>
      </p:sp>
      <p:sp>
        <p:nvSpPr>
          <p:cNvPr id="4" name="step 1 badge"/>
          <p:cNvSpPr/>
          <p:nvPr/>
        </p:nvSpPr>
        <p:spPr>
          <a:xfrm>
            <a:off x="822960" y="1874520"/>
            <a:ext cx="822960" cy="822960"/>
          </a:xfrm>
          <a:prstGeom prst="ellipse">
            <a:avLst/>
          </a:prstGeom>
          <a:solidFill>
            <a:schemeClr val="accent1"/>
          </a:solidFill>
          <a:ln w="12700">
            <a:solidFill>
              <a:schemeClr val="bg2"/>
            </a:solidFill>
            <a:prstDash val="solid"/>
          </a:ln>
        </p:spPr>
      </p:sp>
      <p:sp>
        <p:nvSpPr>
          <p:cNvPr id="5" name="Text 3"/>
          <p:cNvSpPr txBox="1"/>
          <p:nvPr/>
        </p:nvSpPr>
        <p:spPr>
          <a:xfrm>
            <a:off x="822960" y="187452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rPr>
              <a:t>1</a:t>
            </a:r>
            <a:endParaRPr lang="en-US" sz="3000" dirty="0"/>
          </a:p>
        </p:txBody>
      </p:sp>
      <p:sp>
        <p:nvSpPr>
          <p:cNvPr id="6" name="Text 4"/>
          <p:cNvSpPr txBox="1"/>
          <p:nvPr/>
        </p:nvSpPr>
        <p:spPr>
          <a:xfrm>
            <a:off x="822960" y="2880360"/>
            <a:ext cx="2926080" cy="822960"/>
          </a:xfrm>
          <a:prstGeom prst="rect">
            <a:avLst/>
          </a:prstGeom>
          <a:noFill/>
          <a:ln/>
        </p:spPr>
        <p:txBody>
          <a:bodyPr wrap="square" lIns="0" tIns="0" rIns="0" bIns="0" rtlCol="0" anchor="t"/>
          <a:lstStyle/>
          <a:p>
            <a:pPr indent="0" marL="0">
              <a:buNone/>
            </a:pPr>
            <a:r>
              <a:rPr lang="en-US" sz="2400" b="1" dirty="0">
                <a:solidFill>
                  <a:schemeClr val="tx1"/>
                </a:solidFill>
              </a:rPr>
              <a:t>A child has a disorder</a:t>
            </a:r>
            <a:endParaRPr lang="en-US" sz="2400" dirty="0"/>
          </a:p>
        </p:txBody>
      </p:sp>
      <p:sp>
        <p:nvSpPr>
          <p:cNvPr id="7" name="Text 5"/>
          <p:cNvSpPr txBox="1"/>
          <p:nvPr/>
        </p:nvSpPr>
        <p:spPr>
          <a:xfrm>
            <a:off x="822960" y="3840480"/>
            <a:ext cx="2926080" cy="1554480"/>
          </a:xfrm>
          <a:prstGeom prst="rect">
            <a:avLst/>
          </a:prstGeom>
          <a:noFill/>
          <a:ln/>
        </p:spPr>
        <p:txBody>
          <a:bodyPr wrap="square" lIns="0" tIns="0" rIns="0" bIns="0" rtlCol="0" anchor="t"/>
          <a:lstStyle/>
          <a:p>
            <a:pPr indent="0" marL="0">
              <a:buNone/>
            </a:pPr>
            <a:r>
              <a:rPr lang="en-US" sz="2000" dirty="0">
                <a:solidFill>
                  <a:schemeClr val="tx2"/>
                </a:solidFill>
              </a:rPr>
              <a:t>Doctors suspect a genetic cause and sequence the child's DNA.</a:t>
            </a:r>
            <a:endParaRPr lang="en-US" sz="2000" dirty="0"/>
          </a:p>
        </p:txBody>
      </p:sp>
      <p:sp>
        <p:nvSpPr>
          <p:cNvPr id="8" name="step 2"/>
          <p:cNvSpPr/>
          <p:nvPr/>
        </p:nvSpPr>
        <p:spPr>
          <a:xfrm>
            <a:off x="4297680" y="1600200"/>
            <a:ext cx="3474720" cy="3931920"/>
          </a:xfrm>
          <a:prstGeom prst="roundRect">
            <a:avLst>
              <a:gd name="adj" fmla="val 2105"/>
            </a:avLst>
          </a:prstGeom>
          <a:solidFill>
            <a:schemeClr val="bg2"/>
          </a:solidFill>
          <a:ln w="12700">
            <a:solidFill>
              <a:schemeClr val="bg2"/>
            </a:solidFill>
            <a:prstDash val="solid"/>
          </a:ln>
        </p:spPr>
      </p:sp>
      <p:sp>
        <p:nvSpPr>
          <p:cNvPr id="9" name="step 2 badge"/>
          <p:cNvSpPr/>
          <p:nvPr/>
        </p:nvSpPr>
        <p:spPr>
          <a:xfrm>
            <a:off x="4572000" y="1874520"/>
            <a:ext cx="822960" cy="822960"/>
          </a:xfrm>
          <a:prstGeom prst="ellipse">
            <a:avLst/>
          </a:prstGeom>
          <a:solidFill>
            <a:schemeClr val="accent1"/>
          </a:solidFill>
          <a:ln w="12700">
            <a:solidFill>
              <a:schemeClr val="bg2"/>
            </a:solidFill>
            <a:prstDash val="solid"/>
          </a:ln>
        </p:spPr>
      </p:sp>
      <p:sp>
        <p:nvSpPr>
          <p:cNvPr id="10" name="Text 8"/>
          <p:cNvSpPr txBox="1"/>
          <p:nvPr/>
        </p:nvSpPr>
        <p:spPr>
          <a:xfrm>
            <a:off x="4572000" y="187452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rPr>
              <a:t>2</a:t>
            </a:r>
            <a:endParaRPr lang="en-US" sz="3000" dirty="0"/>
          </a:p>
        </p:txBody>
      </p:sp>
      <p:sp>
        <p:nvSpPr>
          <p:cNvPr id="11" name="Text 9"/>
          <p:cNvSpPr txBox="1"/>
          <p:nvPr/>
        </p:nvSpPr>
        <p:spPr>
          <a:xfrm>
            <a:off x="4572000" y="2880360"/>
            <a:ext cx="2926080" cy="822960"/>
          </a:xfrm>
          <a:prstGeom prst="rect">
            <a:avLst/>
          </a:prstGeom>
          <a:noFill/>
          <a:ln/>
        </p:spPr>
        <p:txBody>
          <a:bodyPr wrap="square" lIns="0" tIns="0" rIns="0" bIns="0" rtlCol="0" anchor="t"/>
          <a:lstStyle/>
          <a:p>
            <a:pPr indent="0" marL="0">
              <a:buNone/>
            </a:pPr>
            <a:r>
              <a:rPr lang="en-US" sz="2400" b="1" dirty="0">
                <a:solidFill>
                  <a:schemeClr val="tx1"/>
                </a:solidFill>
              </a:rPr>
              <a:t>Sequencing finds a rare change</a:t>
            </a:r>
            <a:endParaRPr lang="en-US" sz="2400" dirty="0"/>
          </a:p>
        </p:txBody>
      </p:sp>
      <p:sp>
        <p:nvSpPr>
          <p:cNvPr id="12" name="Text 10"/>
          <p:cNvSpPr txBox="1"/>
          <p:nvPr/>
        </p:nvSpPr>
        <p:spPr>
          <a:xfrm>
            <a:off x="4572000" y="3840480"/>
            <a:ext cx="2926080" cy="1554480"/>
          </a:xfrm>
          <a:prstGeom prst="rect">
            <a:avLst/>
          </a:prstGeom>
          <a:noFill/>
          <a:ln/>
        </p:spPr>
        <p:txBody>
          <a:bodyPr wrap="square" lIns="0" tIns="0" rIns="0" bIns="0" rtlCol="0" anchor="t"/>
          <a:lstStyle/>
          <a:p>
            <a:pPr indent="0" marL="0">
              <a:buNone/>
            </a:pPr>
            <a:r>
              <a:rPr lang="en-US" sz="2000" dirty="0">
                <a:solidFill>
                  <a:schemeClr val="tx2"/>
                </a:solidFill>
              </a:rPr>
              <a:t>It sits in a plausible gene, but nobody has seen it before.</a:t>
            </a:r>
            <a:endParaRPr lang="en-US" sz="2000" dirty="0"/>
          </a:p>
        </p:txBody>
      </p:sp>
      <p:sp>
        <p:nvSpPr>
          <p:cNvPr id="13" name="step 3"/>
          <p:cNvSpPr/>
          <p:nvPr/>
        </p:nvSpPr>
        <p:spPr>
          <a:xfrm>
            <a:off x="8046720" y="1600200"/>
            <a:ext cx="3474720" cy="3931920"/>
          </a:xfrm>
          <a:prstGeom prst="roundRect">
            <a:avLst>
              <a:gd name="adj" fmla="val 2105"/>
            </a:avLst>
          </a:prstGeom>
          <a:solidFill>
            <a:schemeClr val="bg2"/>
          </a:solidFill>
          <a:ln w="12700">
            <a:solidFill>
              <a:schemeClr val="bg2"/>
            </a:solidFill>
            <a:prstDash val="solid"/>
          </a:ln>
        </p:spPr>
      </p:sp>
      <p:sp>
        <p:nvSpPr>
          <p:cNvPr id="14" name="step 3 badge"/>
          <p:cNvSpPr/>
          <p:nvPr/>
        </p:nvSpPr>
        <p:spPr>
          <a:xfrm>
            <a:off x="8321040" y="1874520"/>
            <a:ext cx="822960" cy="822960"/>
          </a:xfrm>
          <a:prstGeom prst="ellipse">
            <a:avLst/>
          </a:prstGeom>
          <a:solidFill>
            <a:schemeClr val="accent2"/>
          </a:solidFill>
          <a:ln w="12700">
            <a:solidFill>
              <a:schemeClr val="bg2"/>
            </a:solidFill>
            <a:prstDash val="solid"/>
          </a:ln>
        </p:spPr>
      </p:sp>
      <p:sp>
        <p:nvSpPr>
          <p:cNvPr id="15" name="Text 13"/>
          <p:cNvSpPr txBox="1"/>
          <p:nvPr/>
        </p:nvSpPr>
        <p:spPr>
          <a:xfrm>
            <a:off x="8321040" y="1874520"/>
            <a:ext cx="822960" cy="822960"/>
          </a:xfrm>
          <a:prstGeom prst="rect">
            <a:avLst/>
          </a:prstGeom>
          <a:noFill/>
          <a:ln/>
        </p:spPr>
        <p:txBody>
          <a:bodyPr wrap="square" lIns="0" tIns="0" rIns="0" bIns="0" rtlCol="0" anchor="ctr"/>
          <a:lstStyle/>
          <a:p>
            <a:pPr algn="ctr" indent="0" marL="0">
              <a:buNone/>
            </a:pPr>
            <a:r>
              <a:rPr lang="en-US" sz="3000" b="1" dirty="0">
                <a:solidFill>
                  <a:schemeClr val="bg1"/>
                </a:solidFill>
              </a:rPr>
              <a:t>3</a:t>
            </a:r>
            <a:endParaRPr lang="en-US" sz="3000" dirty="0"/>
          </a:p>
        </p:txBody>
      </p:sp>
      <p:sp>
        <p:nvSpPr>
          <p:cNvPr id="16" name="Text 14"/>
          <p:cNvSpPr txBox="1"/>
          <p:nvPr/>
        </p:nvSpPr>
        <p:spPr>
          <a:xfrm>
            <a:off x="8321040" y="2880360"/>
            <a:ext cx="2926080" cy="822960"/>
          </a:xfrm>
          <a:prstGeom prst="rect">
            <a:avLst/>
          </a:prstGeom>
          <a:noFill/>
          <a:ln/>
        </p:spPr>
        <p:txBody>
          <a:bodyPr wrap="square" lIns="0" tIns="0" rIns="0" bIns="0" rtlCol="0" anchor="t"/>
          <a:lstStyle/>
          <a:p>
            <a:pPr indent="0" marL="0">
              <a:buNone/>
            </a:pPr>
            <a:r>
              <a:rPr lang="en-US" sz="2400" b="1" dirty="0">
                <a:solidFill>
                  <a:schemeClr val="tx1"/>
                </a:solidFill>
              </a:rPr>
              <a:t>The lab cannot interpret it</a:t>
            </a:r>
            <a:endParaRPr lang="en-US" sz="2400" dirty="0"/>
          </a:p>
        </p:txBody>
      </p:sp>
      <p:sp>
        <p:nvSpPr>
          <p:cNvPr id="17" name="Text 15"/>
          <p:cNvSpPr txBox="1"/>
          <p:nvPr/>
        </p:nvSpPr>
        <p:spPr>
          <a:xfrm>
            <a:off x="8321040" y="3840480"/>
            <a:ext cx="2926080" cy="1554480"/>
          </a:xfrm>
          <a:prstGeom prst="rect">
            <a:avLst/>
          </a:prstGeom>
          <a:noFill/>
          <a:ln/>
        </p:spPr>
        <p:txBody>
          <a:bodyPr wrap="square" lIns="0" tIns="0" rIns="0" bIns="0" rtlCol="0" anchor="t"/>
          <a:lstStyle/>
          <a:p>
            <a:pPr indent="0" marL="0">
              <a:buNone/>
            </a:pPr>
            <a:r>
              <a:rPr lang="en-US" sz="2000" dirty="0">
                <a:solidFill>
                  <a:schemeClr val="tx2"/>
                </a:solidFill>
              </a:rPr>
              <a:t>It is reported as a variant of uncertain significance. The family gets no answer.</a:t>
            </a:r>
            <a:endParaRPr lang="en-US" sz="2000" dirty="0"/>
          </a:p>
        </p:txBody>
      </p:sp>
      <p:sp>
        <p:nvSpPr>
          <p:cNvPr id="18" name="Text 16"/>
          <p:cNvSpPr txBox="1"/>
          <p:nvPr/>
        </p:nvSpPr>
        <p:spPr>
          <a:xfrm>
            <a:off x="548640" y="5715000"/>
            <a:ext cx="11091672" cy="457200"/>
          </a:xfrm>
          <a:prstGeom prst="rect">
            <a:avLst/>
          </a:prstGeom>
          <a:noFill/>
          <a:ln/>
        </p:spPr>
        <p:txBody>
          <a:bodyPr wrap="square" lIns="0" tIns="0" rIns="0" bIns="0" rtlCol="0" anchor="t"/>
          <a:lstStyle/>
          <a:p>
            <a:pPr indent="0" marL="0">
              <a:buNone/>
            </a:pPr>
            <a:r>
              <a:rPr lang="en-US" sz="2000" i="1" dirty="0">
                <a:solidFill>
                  <a:schemeClr val="tx2"/>
                </a:solidFill>
              </a:rPr>
              <a:t>An uncertain variant cannot confirm a diagnosis, guide care, or be used to test relatives.</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A second test: the episignature</a:t>
            </a:r>
            <a:endParaRPr lang="en-US" sz="3600" dirty="0"/>
          </a:p>
        </p:txBody>
      </p:sp>
      <p:sp>
        <p:nvSpPr>
          <p:cNvPr id="3" name="Text 1"/>
          <p:cNvSpPr txBox="1"/>
          <p:nvPr/>
        </p:nvSpPr>
        <p:spPr>
          <a:xfrm>
            <a:off x="548640" y="1463040"/>
            <a:ext cx="4937760" cy="2103120"/>
          </a:xfrm>
          <a:prstGeom prst="rect">
            <a:avLst/>
          </a:prstGeom>
          <a:noFill/>
          <a:ln/>
        </p:spPr>
        <p:txBody>
          <a:bodyPr wrap="square" lIns="0" tIns="0" rIns="0" bIns="0" rtlCol="0" anchor="t"/>
          <a:lstStyle/>
          <a:p>
            <a:pPr indent="0" marL="0">
              <a:buNone/>
            </a:pPr>
            <a:r>
              <a:rPr lang="en-US" sz="2200" dirty="0">
                <a:solidFill>
                  <a:schemeClr val="tx1"/>
                </a:solidFill>
              </a:rPr>
              <a:t>Some disease genes control chemical tags on DNA (methylation). When such a gene is broken, the pattern of tags in blood changes in a recognisable way.</a:t>
            </a:r>
            <a:endParaRPr lang="en-US" sz="2200" dirty="0"/>
          </a:p>
        </p:txBody>
      </p:sp>
      <p:sp>
        <p:nvSpPr>
          <p:cNvPr id="4" name="Text 2"/>
          <p:cNvSpPr txBox="1"/>
          <p:nvPr/>
        </p:nvSpPr>
        <p:spPr>
          <a:xfrm>
            <a:off x="548640" y="3840480"/>
            <a:ext cx="4937760" cy="1371600"/>
          </a:xfrm>
          <a:prstGeom prst="rect">
            <a:avLst/>
          </a:prstGeom>
          <a:noFill/>
          <a:ln/>
        </p:spPr>
        <p:txBody>
          <a:bodyPr wrap="square" lIns="0" tIns="0" rIns="0" bIns="0" rtlCol="0" anchor="t"/>
          <a:lstStyle/>
          <a:p>
            <a:pPr indent="0" marL="0">
              <a:buNone/>
            </a:pPr>
            <a:r>
              <a:rPr lang="en-US" sz="2200" b="1" dirty="0">
                <a:solidFill>
                  <a:schemeClr val="accent5"/>
                </a:solidFill>
              </a:rPr>
              <a:t>Pattern present: the variant is probably harmful. Pattern absent: probably harmless.</a:t>
            </a:r>
            <a:endParaRPr lang="en-US" sz="2200" dirty="0"/>
          </a:p>
        </p:txBody>
      </p:sp>
      <p:sp>
        <p:nvSpPr>
          <p:cNvPr id="5" name="diagram panel"/>
          <p:cNvSpPr/>
          <p:nvPr/>
        </p:nvSpPr>
        <p:spPr>
          <a:xfrm>
            <a:off x="5943600" y="1463040"/>
            <a:ext cx="5669280" cy="4754880"/>
          </a:xfrm>
          <a:prstGeom prst="roundRect">
            <a:avLst>
              <a:gd name="adj" fmla="val 1538"/>
            </a:avLst>
          </a:prstGeom>
          <a:solidFill>
            <a:schemeClr val="bg2"/>
          </a:solidFill>
          <a:ln w="12700">
            <a:solidFill>
              <a:schemeClr val="bg2"/>
            </a:solidFill>
            <a:prstDash val="solid"/>
          </a:ln>
        </p:spPr>
      </p:sp>
      <p:sp>
        <p:nvSpPr>
          <p:cNvPr id="6" name="Text 4"/>
          <p:cNvSpPr txBox="1"/>
          <p:nvPr/>
        </p:nvSpPr>
        <p:spPr>
          <a:xfrm>
            <a:off x="6217920" y="1828800"/>
            <a:ext cx="5120640" cy="365760"/>
          </a:xfrm>
          <a:prstGeom prst="rect">
            <a:avLst/>
          </a:prstGeom>
          <a:noFill/>
          <a:ln/>
        </p:spPr>
        <p:txBody>
          <a:bodyPr wrap="square" lIns="0" tIns="0" rIns="0" bIns="0" rtlCol="0" anchor="t"/>
          <a:lstStyle/>
          <a:p>
            <a:pPr indent="0" marL="0">
              <a:buNone/>
            </a:pPr>
            <a:r>
              <a:rPr lang="en-US" sz="2000" b="1" dirty="0">
                <a:solidFill>
                  <a:schemeClr val="tx1"/>
                </a:solidFill>
              </a:rPr>
              <a:t>Healthy control</a:t>
            </a:r>
            <a:endParaRPr lang="en-US" sz="2000" dirty="0"/>
          </a:p>
        </p:txBody>
      </p:sp>
      <p:sp>
        <p:nvSpPr>
          <p:cNvPr id="7" name="dna 0"/>
          <p:cNvSpPr/>
          <p:nvPr/>
        </p:nvSpPr>
        <p:spPr>
          <a:xfrm>
            <a:off x="6217920" y="2578608"/>
            <a:ext cx="5120640" cy="0"/>
          </a:xfrm>
          <a:prstGeom prst="line">
            <a:avLst/>
          </a:prstGeom>
          <a:noFill/>
          <a:ln w="19050">
            <a:solidFill>
              <a:srgbClr val="8A8984"/>
            </a:solidFill>
            <a:prstDash val="solid"/>
          </a:ln>
        </p:spPr>
      </p:sp>
      <p:sp>
        <p:nvSpPr>
          <p:cNvPr id="8" name="site 0-0"/>
          <p:cNvSpPr/>
          <p:nvPr/>
        </p:nvSpPr>
        <p:spPr>
          <a:xfrm>
            <a:off x="6309360" y="2359152"/>
            <a:ext cx="402336" cy="402336"/>
          </a:xfrm>
          <a:prstGeom prst="ellipse">
            <a:avLst/>
          </a:prstGeom>
          <a:solidFill>
            <a:schemeClr val="accent4"/>
          </a:solidFill>
          <a:ln w="25400">
            <a:solidFill>
              <a:schemeClr val="accent4"/>
            </a:solidFill>
            <a:prstDash val="solid"/>
          </a:ln>
        </p:spPr>
      </p:sp>
      <p:sp>
        <p:nvSpPr>
          <p:cNvPr id="9" name="site 0-1"/>
          <p:cNvSpPr/>
          <p:nvPr/>
        </p:nvSpPr>
        <p:spPr>
          <a:xfrm>
            <a:off x="6821424" y="2359152"/>
            <a:ext cx="402336" cy="402336"/>
          </a:xfrm>
          <a:prstGeom prst="ellipse">
            <a:avLst/>
          </a:prstGeom>
          <a:solidFill>
            <a:schemeClr val="accent4"/>
          </a:solidFill>
          <a:ln w="25400">
            <a:solidFill>
              <a:schemeClr val="accent4"/>
            </a:solidFill>
            <a:prstDash val="solid"/>
          </a:ln>
        </p:spPr>
      </p:sp>
      <p:sp>
        <p:nvSpPr>
          <p:cNvPr id="10" name="site 0-2"/>
          <p:cNvSpPr/>
          <p:nvPr/>
        </p:nvSpPr>
        <p:spPr>
          <a:xfrm>
            <a:off x="7333488" y="2359152"/>
            <a:ext cx="402336" cy="402336"/>
          </a:xfrm>
          <a:prstGeom prst="ellipse">
            <a:avLst/>
          </a:prstGeom>
          <a:solidFill>
            <a:schemeClr val="bg1"/>
          </a:solidFill>
          <a:ln w="25400">
            <a:solidFill>
              <a:schemeClr val="accent4"/>
            </a:solidFill>
            <a:prstDash val="solid"/>
          </a:ln>
        </p:spPr>
      </p:sp>
      <p:sp>
        <p:nvSpPr>
          <p:cNvPr id="11" name="site 0-3"/>
          <p:cNvSpPr/>
          <p:nvPr/>
        </p:nvSpPr>
        <p:spPr>
          <a:xfrm>
            <a:off x="7845552" y="2359152"/>
            <a:ext cx="402336" cy="402336"/>
          </a:xfrm>
          <a:prstGeom prst="ellipse">
            <a:avLst/>
          </a:prstGeom>
          <a:solidFill>
            <a:schemeClr val="accent4"/>
          </a:solidFill>
          <a:ln w="25400">
            <a:solidFill>
              <a:schemeClr val="accent4"/>
            </a:solidFill>
            <a:prstDash val="solid"/>
          </a:ln>
        </p:spPr>
      </p:sp>
      <p:sp>
        <p:nvSpPr>
          <p:cNvPr id="12" name="site 0-4"/>
          <p:cNvSpPr/>
          <p:nvPr/>
        </p:nvSpPr>
        <p:spPr>
          <a:xfrm>
            <a:off x="8357616" y="2359152"/>
            <a:ext cx="402336" cy="402336"/>
          </a:xfrm>
          <a:prstGeom prst="ellipse">
            <a:avLst/>
          </a:prstGeom>
          <a:solidFill>
            <a:schemeClr val="accent4"/>
          </a:solidFill>
          <a:ln w="25400">
            <a:solidFill>
              <a:schemeClr val="accent4"/>
            </a:solidFill>
            <a:prstDash val="solid"/>
          </a:ln>
        </p:spPr>
      </p:sp>
      <p:sp>
        <p:nvSpPr>
          <p:cNvPr id="13" name="site 0-5"/>
          <p:cNvSpPr/>
          <p:nvPr/>
        </p:nvSpPr>
        <p:spPr>
          <a:xfrm>
            <a:off x="8869680" y="2359152"/>
            <a:ext cx="402336" cy="402336"/>
          </a:xfrm>
          <a:prstGeom prst="ellipse">
            <a:avLst/>
          </a:prstGeom>
          <a:solidFill>
            <a:schemeClr val="accent4"/>
          </a:solidFill>
          <a:ln w="25400">
            <a:solidFill>
              <a:schemeClr val="accent4"/>
            </a:solidFill>
            <a:prstDash val="solid"/>
          </a:ln>
        </p:spPr>
      </p:sp>
      <p:sp>
        <p:nvSpPr>
          <p:cNvPr id="14" name="site 0-6"/>
          <p:cNvSpPr/>
          <p:nvPr/>
        </p:nvSpPr>
        <p:spPr>
          <a:xfrm>
            <a:off x="9381744" y="2359152"/>
            <a:ext cx="402336" cy="402336"/>
          </a:xfrm>
          <a:prstGeom prst="ellipse">
            <a:avLst/>
          </a:prstGeom>
          <a:solidFill>
            <a:schemeClr val="bg1"/>
          </a:solidFill>
          <a:ln w="25400">
            <a:solidFill>
              <a:schemeClr val="accent4"/>
            </a:solidFill>
            <a:prstDash val="solid"/>
          </a:ln>
        </p:spPr>
      </p:sp>
      <p:sp>
        <p:nvSpPr>
          <p:cNvPr id="15" name="site 0-7"/>
          <p:cNvSpPr/>
          <p:nvPr/>
        </p:nvSpPr>
        <p:spPr>
          <a:xfrm>
            <a:off x="9893808" y="2359152"/>
            <a:ext cx="402336" cy="402336"/>
          </a:xfrm>
          <a:prstGeom prst="ellipse">
            <a:avLst/>
          </a:prstGeom>
          <a:solidFill>
            <a:schemeClr val="accent4"/>
          </a:solidFill>
          <a:ln w="25400">
            <a:solidFill>
              <a:schemeClr val="accent4"/>
            </a:solidFill>
            <a:prstDash val="solid"/>
          </a:ln>
        </p:spPr>
      </p:sp>
      <p:sp>
        <p:nvSpPr>
          <p:cNvPr id="16" name="site 0-8"/>
          <p:cNvSpPr/>
          <p:nvPr/>
        </p:nvSpPr>
        <p:spPr>
          <a:xfrm>
            <a:off x="10405872" y="2359152"/>
            <a:ext cx="402336" cy="402336"/>
          </a:xfrm>
          <a:prstGeom prst="ellipse">
            <a:avLst/>
          </a:prstGeom>
          <a:solidFill>
            <a:schemeClr val="accent4"/>
          </a:solidFill>
          <a:ln w="25400">
            <a:solidFill>
              <a:schemeClr val="accent4"/>
            </a:solidFill>
            <a:prstDash val="solid"/>
          </a:ln>
        </p:spPr>
      </p:sp>
      <p:sp>
        <p:nvSpPr>
          <p:cNvPr id="17" name="site 0-9"/>
          <p:cNvSpPr/>
          <p:nvPr/>
        </p:nvSpPr>
        <p:spPr>
          <a:xfrm>
            <a:off x="10917936" y="2359152"/>
            <a:ext cx="402336" cy="402336"/>
          </a:xfrm>
          <a:prstGeom prst="ellipse">
            <a:avLst/>
          </a:prstGeom>
          <a:solidFill>
            <a:schemeClr val="accent4"/>
          </a:solidFill>
          <a:ln w="25400">
            <a:solidFill>
              <a:schemeClr val="accent4"/>
            </a:solidFill>
            <a:prstDash val="solid"/>
          </a:ln>
        </p:spPr>
      </p:sp>
      <p:sp>
        <p:nvSpPr>
          <p:cNvPr id="18" name="Text 16"/>
          <p:cNvSpPr txBox="1"/>
          <p:nvPr/>
        </p:nvSpPr>
        <p:spPr>
          <a:xfrm>
            <a:off x="6217920" y="3200400"/>
            <a:ext cx="5120640" cy="365760"/>
          </a:xfrm>
          <a:prstGeom prst="rect">
            <a:avLst/>
          </a:prstGeom>
          <a:noFill/>
          <a:ln/>
        </p:spPr>
        <p:txBody>
          <a:bodyPr wrap="square" lIns="0" tIns="0" rIns="0" bIns="0" rtlCol="0" anchor="t"/>
          <a:lstStyle/>
          <a:p>
            <a:pPr indent="0" marL="0">
              <a:buNone/>
            </a:pPr>
            <a:r>
              <a:rPr lang="en-US" sz="2000" b="1" dirty="0">
                <a:solidFill>
                  <a:schemeClr val="tx1"/>
                </a:solidFill>
              </a:rPr>
              <a:t>Patient with the disorder</a:t>
            </a:r>
            <a:endParaRPr lang="en-US" sz="2000" dirty="0"/>
          </a:p>
        </p:txBody>
      </p:sp>
      <p:sp>
        <p:nvSpPr>
          <p:cNvPr id="19" name="dna 1"/>
          <p:cNvSpPr/>
          <p:nvPr/>
        </p:nvSpPr>
        <p:spPr>
          <a:xfrm>
            <a:off x="6217920" y="3950208"/>
            <a:ext cx="5120640" cy="0"/>
          </a:xfrm>
          <a:prstGeom prst="line">
            <a:avLst/>
          </a:prstGeom>
          <a:noFill/>
          <a:ln w="19050">
            <a:solidFill>
              <a:srgbClr val="8A8984"/>
            </a:solidFill>
            <a:prstDash val="solid"/>
          </a:ln>
        </p:spPr>
      </p:sp>
      <p:sp>
        <p:nvSpPr>
          <p:cNvPr id="20" name="site 1-0"/>
          <p:cNvSpPr/>
          <p:nvPr/>
        </p:nvSpPr>
        <p:spPr>
          <a:xfrm>
            <a:off x="6309360" y="3730752"/>
            <a:ext cx="402336" cy="402336"/>
          </a:xfrm>
          <a:prstGeom prst="ellipse">
            <a:avLst/>
          </a:prstGeom>
          <a:solidFill>
            <a:schemeClr val="bg1"/>
          </a:solidFill>
          <a:ln w="25400">
            <a:solidFill>
              <a:schemeClr val="accent2"/>
            </a:solidFill>
            <a:prstDash val="solid"/>
          </a:ln>
        </p:spPr>
      </p:sp>
      <p:sp>
        <p:nvSpPr>
          <p:cNvPr id="21" name="site 1-1"/>
          <p:cNvSpPr/>
          <p:nvPr/>
        </p:nvSpPr>
        <p:spPr>
          <a:xfrm>
            <a:off x="6821424" y="3730752"/>
            <a:ext cx="402336" cy="402336"/>
          </a:xfrm>
          <a:prstGeom prst="ellipse">
            <a:avLst/>
          </a:prstGeom>
          <a:solidFill>
            <a:schemeClr val="accent2"/>
          </a:solidFill>
          <a:ln w="25400">
            <a:solidFill>
              <a:schemeClr val="accent2"/>
            </a:solidFill>
            <a:prstDash val="solid"/>
          </a:ln>
        </p:spPr>
      </p:sp>
      <p:sp>
        <p:nvSpPr>
          <p:cNvPr id="22" name="site 1-2"/>
          <p:cNvSpPr/>
          <p:nvPr/>
        </p:nvSpPr>
        <p:spPr>
          <a:xfrm>
            <a:off x="7333488" y="3730752"/>
            <a:ext cx="402336" cy="402336"/>
          </a:xfrm>
          <a:prstGeom prst="ellipse">
            <a:avLst/>
          </a:prstGeom>
          <a:solidFill>
            <a:schemeClr val="bg1"/>
          </a:solidFill>
          <a:ln w="25400">
            <a:solidFill>
              <a:schemeClr val="accent2"/>
            </a:solidFill>
            <a:prstDash val="solid"/>
          </a:ln>
        </p:spPr>
      </p:sp>
      <p:sp>
        <p:nvSpPr>
          <p:cNvPr id="23" name="site 1-3"/>
          <p:cNvSpPr/>
          <p:nvPr/>
        </p:nvSpPr>
        <p:spPr>
          <a:xfrm>
            <a:off x="7845552" y="3730752"/>
            <a:ext cx="402336" cy="402336"/>
          </a:xfrm>
          <a:prstGeom prst="ellipse">
            <a:avLst/>
          </a:prstGeom>
          <a:solidFill>
            <a:schemeClr val="bg1"/>
          </a:solidFill>
          <a:ln w="25400">
            <a:solidFill>
              <a:schemeClr val="accent2"/>
            </a:solidFill>
            <a:prstDash val="solid"/>
          </a:ln>
        </p:spPr>
      </p:sp>
      <p:sp>
        <p:nvSpPr>
          <p:cNvPr id="24" name="site 1-4"/>
          <p:cNvSpPr/>
          <p:nvPr/>
        </p:nvSpPr>
        <p:spPr>
          <a:xfrm>
            <a:off x="8357616" y="3730752"/>
            <a:ext cx="402336" cy="402336"/>
          </a:xfrm>
          <a:prstGeom prst="ellipse">
            <a:avLst/>
          </a:prstGeom>
          <a:solidFill>
            <a:schemeClr val="accent2"/>
          </a:solidFill>
          <a:ln w="25400">
            <a:solidFill>
              <a:schemeClr val="accent2"/>
            </a:solidFill>
            <a:prstDash val="solid"/>
          </a:ln>
        </p:spPr>
      </p:sp>
      <p:sp>
        <p:nvSpPr>
          <p:cNvPr id="25" name="site 1-5"/>
          <p:cNvSpPr/>
          <p:nvPr/>
        </p:nvSpPr>
        <p:spPr>
          <a:xfrm>
            <a:off x="8869680" y="3730752"/>
            <a:ext cx="402336" cy="402336"/>
          </a:xfrm>
          <a:prstGeom prst="ellipse">
            <a:avLst/>
          </a:prstGeom>
          <a:solidFill>
            <a:schemeClr val="bg1"/>
          </a:solidFill>
          <a:ln w="25400">
            <a:solidFill>
              <a:schemeClr val="accent2"/>
            </a:solidFill>
            <a:prstDash val="solid"/>
          </a:ln>
        </p:spPr>
      </p:sp>
      <p:sp>
        <p:nvSpPr>
          <p:cNvPr id="26" name="site 1-6"/>
          <p:cNvSpPr/>
          <p:nvPr/>
        </p:nvSpPr>
        <p:spPr>
          <a:xfrm>
            <a:off x="9381744" y="3730752"/>
            <a:ext cx="402336" cy="402336"/>
          </a:xfrm>
          <a:prstGeom prst="ellipse">
            <a:avLst/>
          </a:prstGeom>
          <a:solidFill>
            <a:schemeClr val="bg1"/>
          </a:solidFill>
          <a:ln w="25400">
            <a:solidFill>
              <a:schemeClr val="accent2"/>
            </a:solidFill>
            <a:prstDash val="solid"/>
          </a:ln>
        </p:spPr>
      </p:sp>
      <p:sp>
        <p:nvSpPr>
          <p:cNvPr id="27" name="site 1-7"/>
          <p:cNvSpPr/>
          <p:nvPr/>
        </p:nvSpPr>
        <p:spPr>
          <a:xfrm>
            <a:off x="9893808" y="3730752"/>
            <a:ext cx="402336" cy="402336"/>
          </a:xfrm>
          <a:prstGeom prst="ellipse">
            <a:avLst/>
          </a:prstGeom>
          <a:solidFill>
            <a:schemeClr val="bg1"/>
          </a:solidFill>
          <a:ln w="25400">
            <a:solidFill>
              <a:schemeClr val="accent2"/>
            </a:solidFill>
            <a:prstDash val="solid"/>
          </a:ln>
        </p:spPr>
      </p:sp>
      <p:sp>
        <p:nvSpPr>
          <p:cNvPr id="28" name="site 1-8"/>
          <p:cNvSpPr/>
          <p:nvPr/>
        </p:nvSpPr>
        <p:spPr>
          <a:xfrm>
            <a:off x="10405872" y="3730752"/>
            <a:ext cx="402336" cy="402336"/>
          </a:xfrm>
          <a:prstGeom prst="ellipse">
            <a:avLst/>
          </a:prstGeom>
          <a:solidFill>
            <a:schemeClr val="accent2"/>
          </a:solidFill>
          <a:ln w="25400">
            <a:solidFill>
              <a:schemeClr val="accent2"/>
            </a:solidFill>
            <a:prstDash val="solid"/>
          </a:ln>
        </p:spPr>
      </p:sp>
      <p:sp>
        <p:nvSpPr>
          <p:cNvPr id="29" name="site 1-9"/>
          <p:cNvSpPr/>
          <p:nvPr/>
        </p:nvSpPr>
        <p:spPr>
          <a:xfrm>
            <a:off x="10917936" y="3730752"/>
            <a:ext cx="402336" cy="402336"/>
          </a:xfrm>
          <a:prstGeom prst="ellipse">
            <a:avLst/>
          </a:prstGeom>
          <a:solidFill>
            <a:schemeClr val="bg1"/>
          </a:solidFill>
          <a:ln w="25400">
            <a:solidFill>
              <a:schemeClr val="accent2"/>
            </a:solidFill>
            <a:prstDash val="solid"/>
          </a:ln>
        </p:spPr>
      </p:sp>
      <p:sp>
        <p:nvSpPr>
          <p:cNvPr id="30" name="Text 28"/>
          <p:cNvSpPr txBox="1"/>
          <p:nvPr/>
        </p:nvSpPr>
        <p:spPr>
          <a:xfrm>
            <a:off x="6217920" y="4572000"/>
            <a:ext cx="5120640" cy="365760"/>
          </a:xfrm>
          <a:prstGeom prst="rect">
            <a:avLst/>
          </a:prstGeom>
          <a:noFill/>
          <a:ln/>
        </p:spPr>
        <p:txBody>
          <a:bodyPr wrap="square" lIns="0" tIns="0" rIns="0" bIns="0" rtlCol="0" anchor="t"/>
          <a:lstStyle/>
          <a:p>
            <a:pPr indent="0" marL="0">
              <a:buNone/>
            </a:pPr>
            <a:r>
              <a:rPr lang="en-US" sz="2000" b="1" dirty="0">
                <a:solidFill>
                  <a:schemeClr val="tx1"/>
                </a:solidFill>
              </a:rPr>
              <a:t>Patient with an unknown variant</a:t>
            </a:r>
            <a:endParaRPr lang="en-US" sz="2000" dirty="0"/>
          </a:p>
        </p:txBody>
      </p:sp>
      <p:sp>
        <p:nvSpPr>
          <p:cNvPr id="31" name="dna 2"/>
          <p:cNvSpPr/>
          <p:nvPr/>
        </p:nvSpPr>
        <p:spPr>
          <a:xfrm>
            <a:off x="6217920" y="5321808"/>
            <a:ext cx="5120640" cy="0"/>
          </a:xfrm>
          <a:prstGeom prst="line">
            <a:avLst/>
          </a:prstGeom>
          <a:noFill/>
          <a:ln w="19050">
            <a:solidFill>
              <a:srgbClr val="8A8984"/>
            </a:solidFill>
            <a:prstDash val="solid"/>
          </a:ln>
        </p:spPr>
      </p:sp>
      <p:sp>
        <p:nvSpPr>
          <p:cNvPr id="32" name="site 2-0"/>
          <p:cNvSpPr/>
          <p:nvPr/>
        </p:nvSpPr>
        <p:spPr>
          <a:xfrm>
            <a:off x="6309360" y="5102352"/>
            <a:ext cx="402336" cy="402336"/>
          </a:xfrm>
          <a:prstGeom prst="ellipse">
            <a:avLst/>
          </a:prstGeom>
          <a:solidFill>
            <a:schemeClr val="bg1"/>
          </a:solidFill>
          <a:ln w="25400">
            <a:solidFill>
              <a:schemeClr val="accent1"/>
            </a:solidFill>
            <a:prstDash val="solid"/>
          </a:ln>
        </p:spPr>
      </p:sp>
      <p:sp>
        <p:nvSpPr>
          <p:cNvPr id="33" name="site 2-1"/>
          <p:cNvSpPr/>
          <p:nvPr/>
        </p:nvSpPr>
        <p:spPr>
          <a:xfrm>
            <a:off x="6821424" y="5102352"/>
            <a:ext cx="402336" cy="402336"/>
          </a:xfrm>
          <a:prstGeom prst="ellipse">
            <a:avLst/>
          </a:prstGeom>
          <a:solidFill>
            <a:schemeClr val="accent1"/>
          </a:solidFill>
          <a:ln w="25400">
            <a:solidFill>
              <a:schemeClr val="accent1"/>
            </a:solidFill>
            <a:prstDash val="solid"/>
          </a:ln>
        </p:spPr>
      </p:sp>
      <p:sp>
        <p:nvSpPr>
          <p:cNvPr id="34" name="site 2-2"/>
          <p:cNvSpPr/>
          <p:nvPr/>
        </p:nvSpPr>
        <p:spPr>
          <a:xfrm>
            <a:off x="7333488" y="5102352"/>
            <a:ext cx="402336" cy="402336"/>
          </a:xfrm>
          <a:prstGeom prst="ellipse">
            <a:avLst/>
          </a:prstGeom>
          <a:solidFill>
            <a:schemeClr val="bg1"/>
          </a:solidFill>
          <a:ln w="25400">
            <a:solidFill>
              <a:schemeClr val="accent1"/>
            </a:solidFill>
            <a:prstDash val="solid"/>
          </a:ln>
        </p:spPr>
      </p:sp>
      <p:sp>
        <p:nvSpPr>
          <p:cNvPr id="35" name="site 2-3"/>
          <p:cNvSpPr/>
          <p:nvPr/>
        </p:nvSpPr>
        <p:spPr>
          <a:xfrm>
            <a:off x="7845552" y="5102352"/>
            <a:ext cx="402336" cy="402336"/>
          </a:xfrm>
          <a:prstGeom prst="ellipse">
            <a:avLst/>
          </a:prstGeom>
          <a:solidFill>
            <a:schemeClr val="bg1"/>
          </a:solidFill>
          <a:ln w="25400">
            <a:solidFill>
              <a:schemeClr val="accent1"/>
            </a:solidFill>
            <a:prstDash val="solid"/>
          </a:ln>
        </p:spPr>
      </p:sp>
      <p:sp>
        <p:nvSpPr>
          <p:cNvPr id="36" name="site 2-4"/>
          <p:cNvSpPr/>
          <p:nvPr/>
        </p:nvSpPr>
        <p:spPr>
          <a:xfrm>
            <a:off x="8357616" y="5102352"/>
            <a:ext cx="402336" cy="402336"/>
          </a:xfrm>
          <a:prstGeom prst="ellipse">
            <a:avLst/>
          </a:prstGeom>
          <a:solidFill>
            <a:schemeClr val="accent1"/>
          </a:solidFill>
          <a:ln w="25400">
            <a:solidFill>
              <a:schemeClr val="accent1"/>
            </a:solidFill>
            <a:prstDash val="solid"/>
          </a:ln>
        </p:spPr>
      </p:sp>
      <p:sp>
        <p:nvSpPr>
          <p:cNvPr id="37" name="site 2-5"/>
          <p:cNvSpPr/>
          <p:nvPr/>
        </p:nvSpPr>
        <p:spPr>
          <a:xfrm>
            <a:off x="8869680" y="5102352"/>
            <a:ext cx="402336" cy="402336"/>
          </a:xfrm>
          <a:prstGeom prst="ellipse">
            <a:avLst/>
          </a:prstGeom>
          <a:solidFill>
            <a:schemeClr val="bg1"/>
          </a:solidFill>
          <a:ln w="25400">
            <a:solidFill>
              <a:schemeClr val="accent1"/>
            </a:solidFill>
            <a:prstDash val="solid"/>
          </a:ln>
        </p:spPr>
      </p:sp>
      <p:sp>
        <p:nvSpPr>
          <p:cNvPr id="38" name="site 2-6"/>
          <p:cNvSpPr/>
          <p:nvPr/>
        </p:nvSpPr>
        <p:spPr>
          <a:xfrm>
            <a:off x="9381744" y="5102352"/>
            <a:ext cx="402336" cy="402336"/>
          </a:xfrm>
          <a:prstGeom prst="ellipse">
            <a:avLst/>
          </a:prstGeom>
          <a:solidFill>
            <a:schemeClr val="bg1"/>
          </a:solidFill>
          <a:ln w="25400">
            <a:solidFill>
              <a:schemeClr val="accent1"/>
            </a:solidFill>
            <a:prstDash val="solid"/>
          </a:ln>
        </p:spPr>
      </p:sp>
      <p:sp>
        <p:nvSpPr>
          <p:cNvPr id="39" name="site 2-7"/>
          <p:cNvSpPr/>
          <p:nvPr/>
        </p:nvSpPr>
        <p:spPr>
          <a:xfrm>
            <a:off x="9893808" y="5102352"/>
            <a:ext cx="402336" cy="402336"/>
          </a:xfrm>
          <a:prstGeom prst="ellipse">
            <a:avLst/>
          </a:prstGeom>
          <a:solidFill>
            <a:schemeClr val="accent1"/>
          </a:solidFill>
          <a:ln w="25400">
            <a:solidFill>
              <a:schemeClr val="accent1"/>
            </a:solidFill>
            <a:prstDash val="solid"/>
          </a:ln>
        </p:spPr>
      </p:sp>
      <p:sp>
        <p:nvSpPr>
          <p:cNvPr id="40" name="site 2-8"/>
          <p:cNvSpPr/>
          <p:nvPr/>
        </p:nvSpPr>
        <p:spPr>
          <a:xfrm>
            <a:off x="10405872" y="5102352"/>
            <a:ext cx="402336" cy="402336"/>
          </a:xfrm>
          <a:prstGeom prst="ellipse">
            <a:avLst/>
          </a:prstGeom>
          <a:solidFill>
            <a:schemeClr val="accent1"/>
          </a:solidFill>
          <a:ln w="25400">
            <a:solidFill>
              <a:schemeClr val="accent1"/>
            </a:solidFill>
            <a:prstDash val="solid"/>
          </a:ln>
        </p:spPr>
      </p:sp>
      <p:sp>
        <p:nvSpPr>
          <p:cNvPr id="41" name="site 2-9"/>
          <p:cNvSpPr/>
          <p:nvPr/>
        </p:nvSpPr>
        <p:spPr>
          <a:xfrm>
            <a:off x="10917936" y="5102352"/>
            <a:ext cx="402336" cy="402336"/>
          </a:xfrm>
          <a:prstGeom prst="ellipse">
            <a:avLst/>
          </a:prstGeom>
          <a:solidFill>
            <a:schemeClr val="bg1"/>
          </a:solidFill>
          <a:ln w="25400">
            <a:solidFill>
              <a:schemeClr val="accent1"/>
            </a:solidFill>
            <a:prstDash val="solid"/>
          </a:ln>
        </p:spPr>
      </p:sp>
      <p:sp>
        <p:nvSpPr>
          <p:cNvPr id="42" name="Text 40"/>
          <p:cNvSpPr txBox="1"/>
          <p:nvPr/>
        </p:nvSpPr>
        <p:spPr>
          <a:xfrm>
            <a:off x="6217920" y="5760720"/>
            <a:ext cx="5212080" cy="320040"/>
          </a:xfrm>
          <a:prstGeom prst="rect">
            <a:avLst/>
          </a:prstGeom>
          <a:noFill/>
          <a:ln/>
        </p:spPr>
        <p:txBody>
          <a:bodyPr wrap="square" lIns="0" tIns="0" rIns="0" bIns="0" rtlCol="0" anchor="t"/>
          <a:lstStyle/>
          <a:p>
            <a:pPr indent="0" marL="0">
              <a:buNone/>
            </a:pPr>
            <a:r>
              <a:rPr lang="en-US" sz="1600" dirty="0">
                <a:solidFill>
                  <a:schemeClr val="tx2"/>
                </a:solidFill>
              </a:rPr>
              <a:t>Filled circle = tagged site</a:t>
            </a:r>
            <a:endParaRPr lang="en-US" sz="16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The catch: nobody outside can check it</a:t>
            </a:r>
            <a:endParaRPr lang="en-US" sz="3600" dirty="0"/>
          </a:p>
        </p:txBody>
      </p:sp>
      <p:sp>
        <p:nvSpPr>
          <p:cNvPr id="3" name="stat disease signatures reported from 42 syndromes in one landmark study (Aref-Eshghi 2020)"/>
          <p:cNvSpPr/>
          <p:nvPr/>
        </p:nvSpPr>
        <p:spPr>
          <a:xfrm>
            <a:off x="548640" y="1554480"/>
            <a:ext cx="3474720" cy="2743200"/>
          </a:xfrm>
          <a:prstGeom prst="roundRect">
            <a:avLst>
              <a:gd name="adj" fmla="val 2667"/>
            </a:avLst>
          </a:prstGeom>
          <a:solidFill>
            <a:schemeClr val="bg2"/>
          </a:solidFill>
          <a:ln w="12700">
            <a:solidFill>
              <a:schemeClr val="bg2"/>
            </a:solidFill>
            <a:prstDash val="solid"/>
          </a:ln>
        </p:spPr>
      </p:sp>
      <p:sp>
        <p:nvSpPr>
          <p:cNvPr id="4" name="Text 2"/>
          <p:cNvSpPr txBox="1"/>
          <p:nvPr/>
        </p:nvSpPr>
        <p:spPr>
          <a:xfrm>
            <a:off x="777240" y="1691640"/>
            <a:ext cx="3017520" cy="100584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34</a:t>
            </a:r>
            <a:endParaRPr lang="en-US" sz="5400" dirty="0"/>
          </a:p>
        </p:txBody>
      </p:sp>
      <p:sp>
        <p:nvSpPr>
          <p:cNvPr id="5" name="Text 3"/>
          <p:cNvSpPr txBox="1"/>
          <p:nvPr/>
        </p:nvSpPr>
        <p:spPr>
          <a:xfrm>
            <a:off x="777240" y="2697480"/>
            <a:ext cx="3017520" cy="1508760"/>
          </a:xfrm>
          <a:prstGeom prst="rect">
            <a:avLst/>
          </a:prstGeom>
          <a:noFill/>
          <a:ln/>
        </p:spPr>
        <p:txBody>
          <a:bodyPr wrap="square" lIns="0" tIns="0" rIns="0" bIns="0" rtlCol="0" anchor="t"/>
          <a:lstStyle/>
          <a:p>
            <a:pPr indent="0" marL="0">
              <a:buNone/>
            </a:pPr>
            <a:r>
              <a:rPr lang="en-US" sz="2000" dirty="0">
                <a:solidFill>
                  <a:schemeClr val="tx2"/>
                </a:solidFill>
              </a:rPr>
              <a:t>disease signatures reported from 42 syndromes in one landmark study (Aref-Eshghi 2020)</a:t>
            </a:r>
            <a:endParaRPr lang="en-US" sz="2000" dirty="0"/>
          </a:p>
        </p:txBody>
      </p:sp>
      <p:sp>
        <p:nvSpPr>
          <p:cNvPr id="6" name="stat private reference database that these tests are validated against"/>
          <p:cNvSpPr/>
          <p:nvPr/>
        </p:nvSpPr>
        <p:spPr>
          <a:xfrm>
            <a:off x="4297680" y="1554480"/>
            <a:ext cx="3474720" cy="2743200"/>
          </a:xfrm>
          <a:prstGeom prst="roundRect">
            <a:avLst>
              <a:gd name="adj" fmla="val 2667"/>
            </a:avLst>
          </a:prstGeom>
          <a:solidFill>
            <a:schemeClr val="bg2"/>
          </a:solidFill>
          <a:ln w="12700">
            <a:solidFill>
              <a:schemeClr val="bg2"/>
            </a:solidFill>
            <a:prstDash val="solid"/>
          </a:ln>
        </p:spPr>
      </p:sp>
      <p:sp>
        <p:nvSpPr>
          <p:cNvPr id="7" name="Text 5"/>
          <p:cNvSpPr txBox="1"/>
          <p:nvPr/>
        </p:nvSpPr>
        <p:spPr>
          <a:xfrm>
            <a:off x="4526280" y="1691640"/>
            <a:ext cx="3017520" cy="100584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1</a:t>
            </a:r>
            <a:endParaRPr lang="en-US" sz="5400" dirty="0"/>
          </a:p>
        </p:txBody>
      </p:sp>
      <p:sp>
        <p:nvSpPr>
          <p:cNvPr id="8" name="Text 6"/>
          <p:cNvSpPr txBox="1"/>
          <p:nvPr/>
        </p:nvSpPr>
        <p:spPr>
          <a:xfrm>
            <a:off x="4526280" y="2697480"/>
            <a:ext cx="3017520" cy="1508760"/>
          </a:xfrm>
          <a:prstGeom prst="rect">
            <a:avLst/>
          </a:prstGeom>
          <a:noFill/>
          <a:ln/>
        </p:spPr>
        <p:txBody>
          <a:bodyPr wrap="square" lIns="0" tIns="0" rIns="0" bIns="0" rtlCol="0" anchor="t"/>
          <a:lstStyle/>
          <a:p>
            <a:pPr indent="0" marL="0">
              <a:buNone/>
            </a:pPr>
            <a:r>
              <a:rPr lang="en-US" sz="2000" dirty="0">
                <a:solidFill>
                  <a:schemeClr val="tx2"/>
                </a:solidFill>
              </a:rPr>
              <a:t>private reference database that these tests are validated against</a:t>
            </a:r>
            <a:endParaRPr lang="en-US" sz="2000" dirty="0"/>
          </a:p>
        </p:txBody>
      </p:sp>
      <p:sp>
        <p:nvSpPr>
          <p:cNvPr id="9" name="stat sensitivity for 2 of 10 signatures when an outside group re-tested them (Husson 2024)"/>
          <p:cNvSpPr/>
          <p:nvPr/>
        </p:nvSpPr>
        <p:spPr>
          <a:xfrm>
            <a:off x="8046720" y="1554480"/>
            <a:ext cx="3474720" cy="2743200"/>
          </a:xfrm>
          <a:prstGeom prst="roundRect">
            <a:avLst>
              <a:gd name="adj" fmla="val 2667"/>
            </a:avLst>
          </a:prstGeom>
          <a:solidFill>
            <a:schemeClr val="bg2"/>
          </a:solidFill>
          <a:ln w="12700">
            <a:solidFill>
              <a:schemeClr val="bg2"/>
            </a:solidFill>
            <a:prstDash val="solid"/>
          </a:ln>
        </p:spPr>
      </p:sp>
      <p:sp>
        <p:nvSpPr>
          <p:cNvPr id="10" name="Text 8"/>
          <p:cNvSpPr txBox="1"/>
          <p:nvPr/>
        </p:nvSpPr>
        <p:spPr>
          <a:xfrm>
            <a:off x="8275320" y="1691640"/>
            <a:ext cx="3017520" cy="1005840"/>
          </a:xfrm>
          <a:prstGeom prst="rect">
            <a:avLst/>
          </a:prstGeom>
          <a:noFill/>
          <a:ln/>
        </p:spPr>
        <p:txBody>
          <a:bodyPr wrap="square" lIns="0" tIns="0" rIns="0" bIns="0" rtlCol="0" anchor="t"/>
          <a:lstStyle/>
          <a:p>
            <a:pPr indent="0" marL="0">
              <a:buNone/>
            </a:pPr>
            <a:r>
              <a:rPr lang="en-US" sz="5400" b="1" dirty="0">
                <a:solidFill>
                  <a:schemeClr val="accent6"/>
                </a:solidFill>
                <a:latin typeface="Cambria" pitchFamily="34" charset="0"/>
                <a:ea typeface="Cambria" pitchFamily="34" charset="-122"/>
                <a:cs typeface="Cambria" pitchFamily="34" charset="-120"/>
              </a:rPr>
              <a:t>&lt;40%</a:t>
            </a:r>
            <a:endParaRPr lang="en-US" sz="5400" dirty="0"/>
          </a:p>
        </p:txBody>
      </p:sp>
      <p:sp>
        <p:nvSpPr>
          <p:cNvPr id="11" name="Text 9"/>
          <p:cNvSpPr txBox="1"/>
          <p:nvPr/>
        </p:nvSpPr>
        <p:spPr>
          <a:xfrm>
            <a:off x="8275320" y="2697480"/>
            <a:ext cx="3017520" cy="1508760"/>
          </a:xfrm>
          <a:prstGeom prst="rect">
            <a:avLst/>
          </a:prstGeom>
          <a:noFill/>
          <a:ln/>
        </p:spPr>
        <p:txBody>
          <a:bodyPr wrap="square" lIns="0" tIns="0" rIns="0" bIns="0" rtlCol="0" anchor="t"/>
          <a:lstStyle/>
          <a:p>
            <a:pPr indent="0" marL="0">
              <a:buNone/>
            </a:pPr>
            <a:r>
              <a:rPr lang="en-US" sz="2000" dirty="0">
                <a:solidFill>
                  <a:schemeClr val="tx2"/>
                </a:solidFill>
              </a:rPr>
              <a:t>sensitivity for 2 of 10 signatures when an outside group re-tested them (Husson 2024)</a:t>
            </a:r>
            <a:endParaRPr lang="en-US" sz="2000" dirty="0"/>
          </a:p>
        </p:txBody>
      </p:sp>
      <p:sp>
        <p:nvSpPr>
          <p:cNvPr id="12" name="Text 10"/>
          <p:cNvSpPr txBox="1"/>
          <p:nvPr/>
        </p:nvSpPr>
        <p:spPr>
          <a:xfrm>
            <a:off x="548640" y="4617720"/>
            <a:ext cx="11091672" cy="1371600"/>
          </a:xfrm>
          <a:prstGeom prst="rect">
            <a:avLst/>
          </a:prstGeom>
          <a:noFill/>
          <a:ln/>
        </p:spPr>
        <p:txBody>
          <a:bodyPr wrap="square" lIns="0" tIns="0" rIns="0" bIns="0" rtlCol="0" anchor="t"/>
          <a:lstStyle/>
          <a:p>
            <a:pPr indent="0" marL="0">
              <a:buNone/>
            </a:pPr>
            <a:r>
              <a:rPr lang="en-US" sz="2400" dirty="0">
                <a:solidFill>
                  <a:schemeClr val="tx1"/>
                </a:solidFill>
              </a:rPr>
              <a:t>Results are reported in categories agreed by experts, not as a measured strength of evidence. Our question: how much can be confirmed from public data alone?</a:t>
            </a:r>
            <a:endParaRPr lang="en-US" sz="24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What we built: four components</a:t>
            </a:r>
            <a:endParaRPr lang="en-US" sz="3600" dirty="0"/>
          </a:p>
        </p:txBody>
      </p:sp>
      <p:sp>
        <p:nvSpPr>
          <p:cNvPr id="3" name="component 1"/>
          <p:cNvSpPr/>
          <p:nvPr/>
        </p:nvSpPr>
        <p:spPr>
          <a:xfrm>
            <a:off x="548640" y="1554480"/>
            <a:ext cx="5349240" cy="2103120"/>
          </a:xfrm>
          <a:prstGeom prst="roundRect">
            <a:avLst>
              <a:gd name="adj" fmla="val 3478"/>
            </a:avLst>
          </a:prstGeom>
          <a:solidFill>
            <a:schemeClr val="bg2"/>
          </a:solidFill>
          <a:ln w="12700">
            <a:solidFill>
              <a:schemeClr val="bg2"/>
            </a:solidFill>
            <a:prstDash val="solid"/>
          </a:ln>
        </p:spPr>
      </p:sp>
      <p:sp>
        <p:nvSpPr>
          <p:cNvPr id="4" name="component badge 1"/>
          <p:cNvSpPr/>
          <p:nvPr/>
        </p:nvSpPr>
        <p:spPr>
          <a:xfrm>
            <a:off x="822960" y="1874520"/>
            <a:ext cx="731520" cy="731520"/>
          </a:xfrm>
          <a:prstGeom prst="ellipse">
            <a:avLst/>
          </a:prstGeom>
          <a:solidFill>
            <a:schemeClr val="accent1"/>
          </a:solidFill>
          <a:ln w="12700">
            <a:solidFill>
              <a:schemeClr val="accent1"/>
            </a:solidFill>
            <a:prstDash val="solid"/>
          </a:ln>
        </p:spPr>
      </p:sp>
      <p:sp>
        <p:nvSpPr>
          <p:cNvPr id="5" name="Text 3"/>
          <p:cNvSpPr txBox="1"/>
          <p:nvPr/>
        </p:nvSpPr>
        <p:spPr>
          <a:xfrm>
            <a:off x="822960" y="187452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6" name="Text 4"/>
          <p:cNvSpPr txBox="1"/>
          <p:nvPr/>
        </p:nvSpPr>
        <p:spPr>
          <a:xfrm>
            <a:off x="1783080" y="1828800"/>
            <a:ext cx="3931920" cy="457200"/>
          </a:xfrm>
          <a:prstGeom prst="rect">
            <a:avLst/>
          </a:prstGeom>
          <a:noFill/>
          <a:ln/>
        </p:spPr>
        <p:txBody>
          <a:bodyPr wrap="square" lIns="0" tIns="0" rIns="0" bIns="0" rtlCol="0" anchor="t"/>
          <a:lstStyle/>
          <a:p>
            <a:pPr indent="0" marL="0">
              <a:buNone/>
            </a:pPr>
            <a:r>
              <a:rPr lang="en-US" sz="2400" b="1" dirty="0">
                <a:solidFill>
                  <a:schemeClr val="tx1"/>
                </a:solidFill>
              </a:rPr>
              <a:t>Corpus</a:t>
            </a:r>
            <a:endParaRPr lang="en-US" sz="2400" dirty="0"/>
          </a:p>
        </p:txBody>
      </p:sp>
      <p:sp>
        <p:nvSpPr>
          <p:cNvPr id="7" name="Text 5"/>
          <p:cNvSpPr txBox="1"/>
          <p:nvPr/>
        </p:nvSpPr>
        <p:spPr>
          <a:xfrm>
            <a:off x="1783080" y="2377440"/>
            <a:ext cx="3931920" cy="1188720"/>
          </a:xfrm>
          <a:prstGeom prst="rect">
            <a:avLst/>
          </a:prstGeom>
          <a:noFill/>
          <a:ln/>
        </p:spPr>
        <p:txBody>
          <a:bodyPr wrap="square" lIns="0" tIns="0" rIns="0" bIns="0" rtlCol="0" anchor="t"/>
          <a:lstStyle/>
          <a:p>
            <a:pPr indent="0" marL="0">
              <a:buNone/>
            </a:pPr>
            <a:r>
              <a:rPr lang="en-US" sz="2000" dirty="0">
                <a:solidFill>
                  <a:schemeClr val="tx2"/>
                </a:solidFill>
              </a:rPr>
              <a:t>3,732 public samples from 18 datasets, 1,622 kept, a recorded reason for every exclusion</a:t>
            </a:r>
            <a:endParaRPr lang="en-US" sz="2000" dirty="0"/>
          </a:p>
        </p:txBody>
      </p:sp>
      <p:sp>
        <p:nvSpPr>
          <p:cNvPr id="8" name="component 2"/>
          <p:cNvSpPr/>
          <p:nvPr/>
        </p:nvSpPr>
        <p:spPr>
          <a:xfrm>
            <a:off x="6172200" y="1554480"/>
            <a:ext cx="5349240" cy="2103120"/>
          </a:xfrm>
          <a:prstGeom prst="roundRect">
            <a:avLst>
              <a:gd name="adj" fmla="val 3478"/>
            </a:avLst>
          </a:prstGeom>
          <a:solidFill>
            <a:schemeClr val="bg2"/>
          </a:solidFill>
          <a:ln w="12700">
            <a:solidFill>
              <a:schemeClr val="bg2"/>
            </a:solidFill>
            <a:prstDash val="solid"/>
          </a:ln>
        </p:spPr>
      </p:sp>
      <p:sp>
        <p:nvSpPr>
          <p:cNvPr id="9" name="component badge 2"/>
          <p:cNvSpPr/>
          <p:nvPr/>
        </p:nvSpPr>
        <p:spPr>
          <a:xfrm>
            <a:off x="6446520" y="1874520"/>
            <a:ext cx="731520" cy="731520"/>
          </a:xfrm>
          <a:prstGeom prst="ellipse">
            <a:avLst/>
          </a:prstGeom>
          <a:solidFill>
            <a:schemeClr val="accent1"/>
          </a:solidFill>
          <a:ln w="12700">
            <a:solidFill>
              <a:schemeClr val="accent1"/>
            </a:solidFill>
            <a:prstDash val="solid"/>
          </a:ln>
        </p:spPr>
      </p:sp>
      <p:sp>
        <p:nvSpPr>
          <p:cNvPr id="10" name="Text 8"/>
          <p:cNvSpPr txBox="1"/>
          <p:nvPr/>
        </p:nvSpPr>
        <p:spPr>
          <a:xfrm>
            <a:off x="6446520" y="187452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11" name="Text 9"/>
          <p:cNvSpPr txBox="1"/>
          <p:nvPr/>
        </p:nvSpPr>
        <p:spPr>
          <a:xfrm>
            <a:off x="7406640" y="1828800"/>
            <a:ext cx="3931920" cy="457200"/>
          </a:xfrm>
          <a:prstGeom prst="rect">
            <a:avLst/>
          </a:prstGeom>
          <a:noFill/>
          <a:ln/>
        </p:spPr>
        <p:txBody>
          <a:bodyPr wrap="square" lIns="0" tIns="0" rIns="0" bIns="0" rtlCol="0" anchor="t"/>
          <a:lstStyle/>
          <a:p>
            <a:pPr indent="0" marL="0">
              <a:buNone/>
            </a:pPr>
            <a:r>
              <a:rPr lang="en-US" sz="2400" b="1" dirty="0">
                <a:solidFill>
                  <a:schemeClr val="tx1"/>
                </a:solidFill>
              </a:rPr>
              <a:t>Classifiers</a:t>
            </a:r>
            <a:endParaRPr lang="en-US" sz="2400" dirty="0"/>
          </a:p>
        </p:txBody>
      </p:sp>
      <p:sp>
        <p:nvSpPr>
          <p:cNvPr id="12" name="Text 10"/>
          <p:cNvSpPr txBox="1"/>
          <p:nvPr/>
        </p:nvSpPr>
        <p:spPr>
          <a:xfrm>
            <a:off x="7406640" y="2377440"/>
            <a:ext cx="3931920" cy="1188720"/>
          </a:xfrm>
          <a:prstGeom prst="rect">
            <a:avLst/>
          </a:prstGeom>
          <a:noFill/>
          <a:ln/>
        </p:spPr>
        <p:txBody>
          <a:bodyPr wrap="square" lIns="0" tIns="0" rIns="0" bIns="0" rtlCol="0" anchor="t"/>
          <a:lstStyle/>
          <a:p>
            <a:pPr indent="0" marL="0">
              <a:buNone/>
            </a:pPr>
            <a:r>
              <a:rPr lang="en-US" sz="2000" dirty="0">
                <a:solidFill>
                  <a:schemeClr val="tx2"/>
                </a:solidFill>
              </a:rPr>
              <a:t>10 disease signatures: 1 published and reproduced, 9 re-derived under one fixed rule</a:t>
            </a:r>
            <a:endParaRPr lang="en-US" sz="2000" dirty="0"/>
          </a:p>
        </p:txBody>
      </p:sp>
      <p:sp>
        <p:nvSpPr>
          <p:cNvPr id="13" name="component 3"/>
          <p:cNvSpPr/>
          <p:nvPr/>
        </p:nvSpPr>
        <p:spPr>
          <a:xfrm>
            <a:off x="548640" y="3886200"/>
            <a:ext cx="5349240" cy="2103120"/>
          </a:xfrm>
          <a:prstGeom prst="roundRect">
            <a:avLst>
              <a:gd name="adj" fmla="val 3478"/>
            </a:avLst>
          </a:prstGeom>
          <a:solidFill>
            <a:schemeClr val="bg2"/>
          </a:solidFill>
          <a:ln w="12700">
            <a:solidFill>
              <a:schemeClr val="bg2"/>
            </a:solidFill>
            <a:prstDash val="solid"/>
          </a:ln>
        </p:spPr>
      </p:sp>
      <p:sp>
        <p:nvSpPr>
          <p:cNvPr id="14" name="component badge 3"/>
          <p:cNvSpPr/>
          <p:nvPr/>
        </p:nvSpPr>
        <p:spPr>
          <a:xfrm>
            <a:off x="822960" y="4206240"/>
            <a:ext cx="731520" cy="731520"/>
          </a:xfrm>
          <a:prstGeom prst="ellipse">
            <a:avLst/>
          </a:prstGeom>
          <a:solidFill>
            <a:schemeClr val="accent1"/>
          </a:solidFill>
          <a:ln w="12700">
            <a:solidFill>
              <a:schemeClr val="accent1"/>
            </a:solidFill>
            <a:prstDash val="solid"/>
          </a:ln>
        </p:spPr>
      </p:sp>
      <p:sp>
        <p:nvSpPr>
          <p:cNvPr id="15" name="Text 13"/>
          <p:cNvSpPr txBox="1"/>
          <p:nvPr/>
        </p:nvSpPr>
        <p:spPr>
          <a:xfrm>
            <a:off x="822960" y="42062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6" name="Text 14"/>
          <p:cNvSpPr txBox="1"/>
          <p:nvPr/>
        </p:nvSpPr>
        <p:spPr>
          <a:xfrm>
            <a:off x="1783080" y="4160520"/>
            <a:ext cx="3931920" cy="457200"/>
          </a:xfrm>
          <a:prstGeom prst="rect">
            <a:avLst/>
          </a:prstGeom>
          <a:noFill/>
          <a:ln/>
        </p:spPr>
        <p:txBody>
          <a:bodyPr wrap="square" lIns="0" tIns="0" rIns="0" bIns="0" rtlCol="0" anchor="t"/>
          <a:lstStyle/>
          <a:p>
            <a:pPr indent="0" marL="0">
              <a:buNone/>
            </a:pPr>
            <a:r>
              <a:rPr lang="en-US" sz="2400" b="1" dirty="0">
                <a:solidFill>
                  <a:schemeClr val="tx1"/>
                </a:solidFill>
              </a:rPr>
              <a:t>Audit and calibration</a:t>
            </a:r>
            <a:endParaRPr lang="en-US" sz="2400" dirty="0"/>
          </a:p>
        </p:txBody>
      </p:sp>
      <p:sp>
        <p:nvSpPr>
          <p:cNvPr id="17" name="Text 15"/>
          <p:cNvSpPr txBox="1"/>
          <p:nvPr/>
        </p:nvSpPr>
        <p:spPr>
          <a:xfrm>
            <a:off x="1783080" y="4709160"/>
            <a:ext cx="3931920" cy="1188720"/>
          </a:xfrm>
          <a:prstGeom prst="rect">
            <a:avLst/>
          </a:prstGeom>
          <a:noFill/>
          <a:ln/>
        </p:spPr>
        <p:txBody>
          <a:bodyPr wrap="square" lIns="0" tIns="0" rIns="0" bIns="0" rtlCol="0" anchor="t"/>
          <a:lstStyle/>
          <a:p>
            <a:pPr indent="0" marL="0">
              <a:buNone/>
            </a:pPr>
            <a:r>
              <a:rPr lang="en-US" sz="2000" dirty="0">
                <a:solidFill>
                  <a:schemeClr val="tx2"/>
                </a:solidFill>
              </a:rPr>
              <a:t>Cross-study tests, every classifier against every disorder, and scores turned into evidence strength</a:t>
            </a:r>
            <a:endParaRPr lang="en-US" sz="2000" dirty="0"/>
          </a:p>
        </p:txBody>
      </p:sp>
      <p:sp>
        <p:nvSpPr>
          <p:cNvPr id="18" name="component 4"/>
          <p:cNvSpPr/>
          <p:nvPr/>
        </p:nvSpPr>
        <p:spPr>
          <a:xfrm>
            <a:off x="6172200" y="3886200"/>
            <a:ext cx="5349240" cy="2103120"/>
          </a:xfrm>
          <a:prstGeom prst="roundRect">
            <a:avLst>
              <a:gd name="adj" fmla="val 3478"/>
            </a:avLst>
          </a:prstGeom>
          <a:solidFill>
            <a:schemeClr val="bg2"/>
          </a:solidFill>
          <a:ln w="12700">
            <a:solidFill>
              <a:schemeClr val="bg2"/>
            </a:solidFill>
            <a:prstDash val="solid"/>
          </a:ln>
        </p:spPr>
      </p:sp>
      <p:sp>
        <p:nvSpPr>
          <p:cNvPr id="19" name="component badge 4"/>
          <p:cNvSpPr/>
          <p:nvPr/>
        </p:nvSpPr>
        <p:spPr>
          <a:xfrm>
            <a:off x="6446520" y="4206240"/>
            <a:ext cx="731520" cy="731520"/>
          </a:xfrm>
          <a:prstGeom prst="ellipse">
            <a:avLst/>
          </a:prstGeom>
          <a:solidFill>
            <a:schemeClr val="accent1"/>
          </a:solidFill>
          <a:ln w="12700">
            <a:solidFill>
              <a:schemeClr val="accent1"/>
            </a:solidFill>
            <a:prstDash val="solid"/>
          </a:ln>
        </p:spPr>
      </p:sp>
      <p:sp>
        <p:nvSpPr>
          <p:cNvPr id="20" name="Text 18"/>
          <p:cNvSpPr txBox="1"/>
          <p:nvPr/>
        </p:nvSpPr>
        <p:spPr>
          <a:xfrm>
            <a:off x="6446520" y="42062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21" name="Text 19"/>
          <p:cNvSpPr txBox="1"/>
          <p:nvPr/>
        </p:nvSpPr>
        <p:spPr>
          <a:xfrm>
            <a:off x="7406640" y="4160520"/>
            <a:ext cx="3931920" cy="457200"/>
          </a:xfrm>
          <a:prstGeom prst="rect">
            <a:avLst/>
          </a:prstGeom>
          <a:noFill/>
          <a:ln/>
        </p:spPr>
        <p:txBody>
          <a:bodyPr wrap="square" lIns="0" tIns="0" rIns="0" bIns="0" rtlCol="0" anchor="t"/>
          <a:lstStyle/>
          <a:p>
            <a:pPr indent="0" marL="0">
              <a:buNone/>
            </a:pPr>
            <a:r>
              <a:rPr lang="en-US" sz="2400" b="1" dirty="0">
                <a:solidFill>
                  <a:schemeClr val="tx1"/>
                </a:solidFill>
              </a:rPr>
              <a:t>Identification engine</a:t>
            </a:r>
            <a:endParaRPr lang="en-US" sz="2400" dirty="0"/>
          </a:p>
        </p:txBody>
      </p:sp>
      <p:sp>
        <p:nvSpPr>
          <p:cNvPr id="22" name="Text 20"/>
          <p:cNvSpPr txBox="1"/>
          <p:nvPr/>
        </p:nvSpPr>
        <p:spPr>
          <a:xfrm>
            <a:off x="7406640" y="4709160"/>
            <a:ext cx="3931920" cy="1188720"/>
          </a:xfrm>
          <a:prstGeom prst="rect">
            <a:avLst/>
          </a:prstGeom>
          <a:noFill/>
          <a:ln/>
        </p:spPr>
        <p:txBody>
          <a:bodyPr wrap="square" lIns="0" tIns="0" rIns="0" bIns="0" rtlCol="0" anchor="t"/>
          <a:lstStyle/>
          <a:p>
            <a:pPr indent="0" marL="0">
              <a:buNone/>
            </a:pPr>
            <a:r>
              <a:rPr lang="en-US" sz="2000" dirty="0">
                <a:solidFill>
                  <a:schemeClr val="tx2"/>
                </a:solidFill>
              </a:rPr>
              <a:t>Upload any signature and learn which of 12 disorders it identifies, if any</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Proof it works: the Sotos syndrome signature</a:t>
            </a:r>
            <a:endParaRPr lang="en-US" sz="3600" dirty="0"/>
          </a:p>
        </p:txBody>
      </p:sp>
      <p:pic>
        <p:nvPicPr>
          <p:cNvPr id="3" name="Sotos reproduction scores by cohort" descr="Sotos reproduction scores by cohort">    </p:cNvPr>
          <p:cNvPicPr>
            <a:picLocks noChangeAspect="1"/>
          </p:cNvPicPr>
          <p:nvPr/>
        </p:nvPicPr>
        <p:blipFill>
          <a:blip r:embed="rId1"/>
          <a:stretch>
            <a:fillRect/>
          </a:stretch>
        </p:blipFill>
        <p:spPr>
          <a:xfrm>
            <a:off x="548640" y="1864360"/>
            <a:ext cx="6949440" cy="3860800"/>
          </a:xfrm>
          <a:prstGeom prst="rect">
            <a:avLst/>
          </a:prstGeom>
        </p:spPr>
      </p:pic>
      <p:sp>
        <p:nvSpPr>
          <p:cNvPr id="4" name="Text 1"/>
          <p:cNvSpPr txBox="1"/>
          <p:nvPr/>
        </p:nvSpPr>
        <p:spPr>
          <a:xfrm>
            <a:off x="7863840" y="1554480"/>
            <a:ext cx="3749040" cy="411480"/>
          </a:xfrm>
          <a:prstGeom prst="rect">
            <a:avLst/>
          </a:prstGeom>
          <a:noFill/>
          <a:ln/>
        </p:spPr>
        <p:txBody>
          <a:bodyPr wrap="square" lIns="0" tIns="0" rIns="0" bIns="0" rtlCol="0" anchor="t"/>
          <a:lstStyle/>
          <a:p>
            <a:pPr indent="0" marL="0">
              <a:buNone/>
            </a:pPr>
            <a:r>
              <a:rPr lang="en-US" sz="2200" b="1" dirty="0">
                <a:solidFill>
                  <a:schemeClr val="accent5"/>
                </a:solidFill>
              </a:rPr>
              <a:t>Published (Choufani 2015)</a:t>
            </a:r>
            <a:endParaRPr lang="en-US" sz="2200" dirty="0"/>
          </a:p>
        </p:txBody>
      </p:sp>
      <p:sp>
        <p:nvSpPr>
          <p:cNvPr id="5" name="Text 2"/>
          <p:cNvSpPr txBox="1"/>
          <p:nvPr/>
        </p:nvSpPr>
        <p:spPr>
          <a:xfrm>
            <a:off x="7863840" y="2011680"/>
            <a:ext cx="3749040" cy="1188720"/>
          </a:xfrm>
          <a:prstGeom prst="rect">
            <a:avLst/>
          </a:prstGeom>
          <a:noFill/>
          <a:ln/>
        </p:spPr>
        <p:txBody>
          <a:bodyPr wrap="square" lIns="0" tIns="0" rIns="0" bIns="0" rtlCol="0" anchor="t"/>
          <a:lstStyle/>
          <a:p>
            <a:pPr indent="0" marL="0">
              <a:buNone/>
            </a:pPr>
            <a:r>
              <a:rPr lang="en-US" sz="2000" dirty="0">
                <a:solidFill>
                  <a:schemeClr val="tx2"/>
                </a:solidFill>
              </a:rPr>
              <a:t>19 cases and 53 controls separate cleanly at a score of zero.</a:t>
            </a:r>
            <a:endParaRPr lang="en-US" sz="2000" dirty="0"/>
          </a:p>
        </p:txBody>
      </p:sp>
      <p:sp>
        <p:nvSpPr>
          <p:cNvPr id="6" name="Text 3"/>
          <p:cNvSpPr txBox="1"/>
          <p:nvPr/>
        </p:nvSpPr>
        <p:spPr>
          <a:xfrm>
            <a:off x="7863840" y="3429000"/>
            <a:ext cx="3749040" cy="411480"/>
          </a:xfrm>
          <a:prstGeom prst="rect">
            <a:avLst/>
          </a:prstGeom>
          <a:noFill/>
          <a:ln/>
        </p:spPr>
        <p:txBody>
          <a:bodyPr wrap="square" lIns="0" tIns="0" rIns="0" bIns="0" rtlCol="0" anchor="t"/>
          <a:lstStyle/>
          <a:p>
            <a:pPr indent="0" marL="0">
              <a:buNone/>
            </a:pPr>
            <a:r>
              <a:rPr lang="en-US" sz="2200" b="1" dirty="0">
                <a:solidFill>
                  <a:schemeClr val="accent2"/>
                </a:solidFill>
              </a:rPr>
              <a:t>Ours, from the public data</a:t>
            </a:r>
            <a:endParaRPr lang="en-US" sz="2200" dirty="0"/>
          </a:p>
        </p:txBody>
      </p:sp>
      <p:sp>
        <p:nvSpPr>
          <p:cNvPr id="7" name="Text 4"/>
          <p:cNvSpPr txBox="1"/>
          <p:nvPr/>
        </p:nvSpPr>
        <p:spPr>
          <a:xfrm>
            <a:off x="7863840" y="3886200"/>
            <a:ext cx="3749040" cy="2011680"/>
          </a:xfrm>
          <a:prstGeom prst="rect">
            <a:avLst/>
          </a:prstGeom>
          <a:noFill/>
          <a:ln/>
        </p:spPr>
        <p:txBody>
          <a:bodyPr wrap="square" lIns="0" tIns="0" rIns="0" bIns="0" rtlCol="0" anchor="t"/>
          <a:lstStyle/>
          <a:p>
            <a:pPr indent="0" marL="0">
              <a:buNone/>
            </a:pPr>
            <a:r>
              <a:rPr lang="en-US" sz="2000" dirty="0">
                <a:solidFill>
                  <a:schemeClr val="tx2"/>
                </a:solidFill>
              </a:rPr>
              <a:t>19/19 cases above zero, 53/53 controls below zero. Each sample was scored without using itself.</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Four reproduction checks, all passing</a:t>
            </a:r>
            <a:endParaRPr lang="en-US" sz="3600" dirty="0"/>
          </a:p>
        </p:txBody>
      </p:sp>
      <p:graphicFrame>
        <p:nvGraphicFramePr>
          <p:cNvPr id="8" name="four check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931920"/>
                <a:gridCol w="3291840"/>
                <a:gridCol w="2651760"/>
                <a:gridCol w="1216152"/>
              </a:tblGrid>
              <a:tr h="731520">
                <a:tc>
                  <a:txBody>
                    <a:bodyPr/>
                    <a:lstStyle/>
                    <a:p>
                      <a:pPr indent="0" marL="0">
                        <a:buNone/>
                      </a:pPr>
                      <a:r>
                        <a:rPr lang="en-US" sz="2000" b="1" dirty="0">
                          <a:solidFill>
                            <a:srgbClr val="FFFFFF"/>
                          </a:solidFill>
                        </a:rPr>
                        <a:t>Check</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c>
                  <a:txBody>
                    <a:bodyPr/>
                    <a:lstStyle/>
                    <a:p>
                      <a:pPr indent="0" marL="0">
                        <a:buNone/>
                      </a:pPr>
                      <a:r>
                        <a:rPr lang="en-US" sz="2000" b="1" dirty="0">
                          <a:solidFill>
                            <a:srgbClr val="FFFFFF"/>
                          </a:solidFill>
                        </a:rPr>
                        <a:t>Published</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c>
                  <a:txBody>
                    <a:bodyPr/>
                    <a:lstStyle/>
                    <a:p>
                      <a:pPr indent="0" marL="0">
                        <a:buNone/>
                      </a:pPr>
                      <a:r>
                        <a:rPr lang="en-US" sz="2000" b="1" dirty="0">
                          <a:solidFill>
                            <a:srgbClr val="FFFFFF"/>
                          </a:solidFill>
                        </a:rPr>
                        <a:t>Ours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c>
                  <a:txBody>
                    <a:bodyPr/>
                    <a:lstStyle/>
                    <a:p>
                      <a:pPr indent="0" marL="0">
                        <a:buNone/>
                      </a:pPr>
                      <a:r>
                        <a:rPr lang="en-US" sz="2000" b="1" dirty="0">
                          <a:solidFill>
                            <a:srgbClr val="FFFFFF"/>
                          </a:solidFill>
                        </a:rPr>
                        <a:t>Result</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r>
              <a:tr h="731520">
                <a:tc>
                  <a:txBody>
                    <a:bodyPr/>
                    <a:lstStyle/>
                    <a:p>
                      <a:pPr indent="0" marL="0">
                        <a:buNone/>
                      </a:pPr>
                      <a:r>
                        <a:rPr lang="en-US" sz="2000" dirty="0">
                          <a:solidFill>
                            <a:srgbClr val="14213D"/>
                          </a:solidFill>
                        </a:rPr>
                        <a:t>Cases and controls separate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19 cases vs 53 controls, clean split</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19/19 and 53/53</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Pass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731520">
                <a:tc>
                  <a:txBody>
                    <a:bodyPr/>
                    <a:lstStyle/>
                    <a:p>
                      <a:pPr indent="0" marL="0">
                        <a:buNone/>
                      </a:pPr>
                      <a:r>
                        <a:rPr lang="en-US" sz="2000" dirty="0">
                          <a:solidFill>
                            <a:srgbClr val="14213D"/>
                          </a:solidFill>
                        </a:rPr>
                        <a:t>Similar disorder (Weaver) scores negative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8 of 8 negative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8/8 negative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Pass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r>
              <a:tr h="731520">
                <a:tc>
                  <a:txBody>
                    <a:bodyPr/>
                    <a:lstStyle/>
                    <a:p>
                      <a:pPr indent="0" marL="0">
                        <a:buNone/>
                      </a:pPr>
                      <a:r>
                        <a:rPr lang="en-US" sz="2000" dirty="0">
                          <a:solidFill>
                            <a:srgbClr val="14213D"/>
                          </a:solidFill>
                        </a:rPr>
                        <a:t>Unclear NSD1 variants split</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9 positive, 7 negative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9 positive, 7 negative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Pass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731520">
                <a:tc>
                  <a:txBody>
                    <a:bodyPr/>
                    <a:lstStyle/>
                    <a:p>
                      <a:pPr indent="0" marL="0">
                        <a:buNone/>
                      </a:pPr>
                      <a:r>
                        <a:rPr lang="en-US" sz="2000" dirty="0">
                          <a:solidFill>
                            <a:srgbClr val="14213D"/>
                          </a:solidFill>
                        </a:rPr>
                        <a:t>Held-out cases score positive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all positive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19 of 19 positive</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Pass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r>
            </a:tbl>
          </a:graphicData>
        </a:graphic>
      </p:graphicFrame>
      <p:sp>
        <p:nvSpPr>
          <p:cNvPr id="4" name="Text 1"/>
          <p:cNvSpPr txBox="1"/>
          <p:nvPr/>
        </p:nvSpPr>
        <p:spPr>
          <a:xfrm>
            <a:off x="548640" y="5532120"/>
            <a:ext cx="11091672" cy="548640"/>
          </a:xfrm>
          <a:prstGeom prst="rect">
            <a:avLst/>
          </a:prstGeom>
          <a:noFill/>
          <a:ln/>
        </p:spPr>
        <p:txBody>
          <a:bodyPr wrap="square" lIns="0" tIns="0" rIns="0" bIns="0" rtlCol="0" anchor="t"/>
          <a:lstStyle/>
          <a:p>
            <a:pPr indent="0" marL="0">
              <a:buNone/>
            </a:pPr>
            <a:r>
              <a:rPr lang="en-US" sz="2400" b="1" dirty="0">
                <a:solidFill>
                  <a:schemeClr val="accent3"/>
                </a:solidFill>
              </a:rPr>
              <a:t>4 of 4 checks pass. The pipeline reproduces a published result exactly.</a:t>
            </a:r>
            <a:endParaRPr lang="en-US" sz="24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Finding 1: only 3 of 12 disorders span two studies</a:t>
            </a:r>
            <a:endParaRPr lang="en-US" sz="3600" dirty="0"/>
          </a:p>
        </p:txBody>
      </p:sp>
      <p:pic>
        <p:nvPicPr>
          <p:cNvPr id="3" name="Twelve disorders by verdict" descr="Twelve disorders by verdict">    </p:cNvPr>
          <p:cNvPicPr>
            <a:picLocks noChangeAspect="1"/>
          </p:cNvPicPr>
          <p:nvPr/>
        </p:nvPicPr>
        <p:blipFill>
          <a:blip r:embed="rId1"/>
          <a:stretch>
            <a:fillRect/>
          </a:stretch>
        </p:blipFill>
        <p:spPr>
          <a:xfrm>
            <a:off x="548640" y="1371600"/>
            <a:ext cx="7491510" cy="4846320"/>
          </a:xfrm>
          <a:prstGeom prst="rect">
            <a:avLst/>
          </a:prstGeom>
        </p:spPr>
      </p:pic>
      <p:sp>
        <p:nvSpPr>
          <p:cNvPr id="4" name="stat disorders have every case in one study, so disease and laboratory batch cannot be told apart"/>
          <p:cNvSpPr/>
          <p:nvPr/>
        </p:nvSpPr>
        <p:spPr>
          <a:xfrm>
            <a:off x="8321040" y="1463040"/>
            <a:ext cx="3291840" cy="2514600"/>
          </a:xfrm>
          <a:prstGeom prst="roundRect">
            <a:avLst>
              <a:gd name="adj" fmla="val 2909"/>
            </a:avLst>
          </a:prstGeom>
          <a:solidFill>
            <a:schemeClr val="bg2"/>
          </a:solidFill>
          <a:ln w="12700">
            <a:solidFill>
              <a:schemeClr val="bg2"/>
            </a:solidFill>
            <a:prstDash val="solid"/>
          </a:ln>
        </p:spPr>
      </p:sp>
      <p:sp>
        <p:nvSpPr>
          <p:cNvPr id="5" name="Text 2"/>
          <p:cNvSpPr txBox="1"/>
          <p:nvPr/>
        </p:nvSpPr>
        <p:spPr>
          <a:xfrm>
            <a:off x="8549640" y="1600200"/>
            <a:ext cx="2834640" cy="100584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7</a:t>
            </a:r>
            <a:endParaRPr lang="en-US" sz="5400" dirty="0"/>
          </a:p>
        </p:txBody>
      </p:sp>
      <p:sp>
        <p:nvSpPr>
          <p:cNvPr id="6" name="Text 3"/>
          <p:cNvSpPr txBox="1"/>
          <p:nvPr/>
        </p:nvSpPr>
        <p:spPr>
          <a:xfrm>
            <a:off x="8549640" y="2606040"/>
            <a:ext cx="2834640" cy="1280160"/>
          </a:xfrm>
          <a:prstGeom prst="rect">
            <a:avLst/>
          </a:prstGeom>
          <a:noFill/>
          <a:ln/>
        </p:spPr>
        <p:txBody>
          <a:bodyPr wrap="square" lIns="0" tIns="0" rIns="0" bIns="0" rtlCol="0" anchor="t"/>
          <a:lstStyle/>
          <a:p>
            <a:pPr indent="0" marL="0">
              <a:buNone/>
            </a:pPr>
            <a:r>
              <a:rPr lang="en-US" sz="2000" dirty="0">
                <a:solidFill>
                  <a:schemeClr val="tx2"/>
                </a:solidFill>
              </a:rPr>
              <a:t>disorders have every case in one study, so disease and laboratory batch cannot be told apart</a:t>
            </a:r>
            <a:endParaRPr lang="en-US" sz="2000" dirty="0"/>
          </a:p>
        </p:txBody>
      </p:sp>
      <p:sp>
        <p:nvSpPr>
          <p:cNvPr id="7" name="stat disorders have under 10 cases, too few for any signature"/>
          <p:cNvSpPr/>
          <p:nvPr/>
        </p:nvSpPr>
        <p:spPr>
          <a:xfrm>
            <a:off x="8321040" y="4160520"/>
            <a:ext cx="3291840" cy="2057400"/>
          </a:xfrm>
          <a:prstGeom prst="roundRect">
            <a:avLst>
              <a:gd name="adj" fmla="val 3556"/>
            </a:avLst>
          </a:prstGeom>
          <a:solidFill>
            <a:schemeClr val="bg2"/>
          </a:solidFill>
          <a:ln w="12700">
            <a:solidFill>
              <a:schemeClr val="bg2"/>
            </a:solidFill>
            <a:prstDash val="solid"/>
          </a:ln>
        </p:spPr>
      </p:sp>
      <p:sp>
        <p:nvSpPr>
          <p:cNvPr id="8" name="Text 5"/>
          <p:cNvSpPr txBox="1"/>
          <p:nvPr/>
        </p:nvSpPr>
        <p:spPr>
          <a:xfrm>
            <a:off x="8549640" y="4297680"/>
            <a:ext cx="2834640" cy="100584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2</a:t>
            </a:r>
            <a:endParaRPr lang="en-US" sz="5400" dirty="0"/>
          </a:p>
        </p:txBody>
      </p:sp>
      <p:sp>
        <p:nvSpPr>
          <p:cNvPr id="9" name="Text 6"/>
          <p:cNvSpPr txBox="1"/>
          <p:nvPr/>
        </p:nvSpPr>
        <p:spPr>
          <a:xfrm>
            <a:off x="8549640" y="5303520"/>
            <a:ext cx="2834640" cy="822960"/>
          </a:xfrm>
          <a:prstGeom prst="rect">
            <a:avLst/>
          </a:prstGeom>
          <a:noFill/>
          <a:ln/>
        </p:spPr>
        <p:txBody>
          <a:bodyPr wrap="square" lIns="0" tIns="0" rIns="0" bIns="0" rtlCol="0" anchor="t"/>
          <a:lstStyle/>
          <a:p>
            <a:pPr indent="0" marL="0">
              <a:buNone/>
            </a:pPr>
            <a:r>
              <a:rPr lang="en-US" sz="2000" dirty="0">
                <a:solidFill>
                  <a:schemeClr val="tx2"/>
                </a:solidFill>
              </a:rPr>
              <a:t>disorders have under 10 cases, too few for any signature</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Finding 2: 1 of 6 cross-study tests could be run</a:t>
            </a:r>
            <a:endParaRPr lang="en-US" sz="3600" dirty="0"/>
          </a:p>
        </p:txBody>
      </p:sp>
      <p:pic>
        <p:nvPicPr>
          <p:cNvPr id="3" name="Leave-one-study-out results" descr="Leave-one-study-out results">    </p:cNvPr>
          <p:cNvPicPr>
            <a:picLocks noChangeAspect="1"/>
          </p:cNvPicPr>
          <p:nvPr/>
        </p:nvPicPr>
        <p:blipFill>
          <a:blip r:embed="rId1"/>
          <a:stretch>
            <a:fillRect/>
          </a:stretch>
        </p:blipFill>
        <p:spPr>
          <a:xfrm>
            <a:off x="548640" y="1659511"/>
            <a:ext cx="7589520" cy="4270497"/>
          </a:xfrm>
          <a:prstGeom prst="rect">
            <a:avLst/>
          </a:prstGeom>
        </p:spPr>
      </p:pic>
      <p:sp>
        <p:nvSpPr>
          <p:cNvPr id="4" name="stat held-out Silver-Russell cases detected (27.8%); 6/6 controls correctly negative"/>
          <p:cNvSpPr/>
          <p:nvPr/>
        </p:nvSpPr>
        <p:spPr>
          <a:xfrm>
            <a:off x="8412480" y="1463040"/>
            <a:ext cx="3200400" cy="2514600"/>
          </a:xfrm>
          <a:prstGeom prst="roundRect">
            <a:avLst>
              <a:gd name="adj" fmla="val 2909"/>
            </a:avLst>
          </a:prstGeom>
          <a:solidFill>
            <a:schemeClr val="bg2"/>
          </a:solidFill>
          <a:ln w="12700">
            <a:solidFill>
              <a:schemeClr val="bg2"/>
            </a:solidFill>
            <a:prstDash val="solid"/>
          </a:ln>
        </p:spPr>
      </p:sp>
      <p:sp>
        <p:nvSpPr>
          <p:cNvPr id="5" name="Text 2"/>
          <p:cNvSpPr txBox="1"/>
          <p:nvPr/>
        </p:nvSpPr>
        <p:spPr>
          <a:xfrm>
            <a:off x="8641080" y="1600200"/>
            <a:ext cx="2743200" cy="100584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5/18</a:t>
            </a:r>
            <a:endParaRPr lang="en-US" sz="5400" dirty="0"/>
          </a:p>
        </p:txBody>
      </p:sp>
      <p:sp>
        <p:nvSpPr>
          <p:cNvPr id="6" name="Text 3"/>
          <p:cNvSpPr txBox="1"/>
          <p:nvPr/>
        </p:nvSpPr>
        <p:spPr>
          <a:xfrm>
            <a:off x="8641080" y="2606040"/>
            <a:ext cx="2743200" cy="1280160"/>
          </a:xfrm>
          <a:prstGeom prst="rect">
            <a:avLst/>
          </a:prstGeom>
          <a:noFill/>
          <a:ln/>
        </p:spPr>
        <p:txBody>
          <a:bodyPr wrap="square" lIns="0" tIns="0" rIns="0" bIns="0" rtlCol="0" anchor="t"/>
          <a:lstStyle/>
          <a:p>
            <a:pPr indent="0" marL="0">
              <a:buNone/>
            </a:pPr>
            <a:r>
              <a:rPr lang="en-US" sz="2000" dirty="0">
                <a:solidFill>
                  <a:schemeClr val="tx2"/>
                </a:solidFill>
              </a:rPr>
              <a:t>held-out Silver-Russell cases detected (27.8%); 6/6 controls correctly negative</a:t>
            </a:r>
            <a:endParaRPr lang="en-US" sz="2000" dirty="0"/>
          </a:p>
        </p:txBody>
      </p:sp>
      <p:sp>
        <p:nvSpPr>
          <p:cNvPr id="7" name="Text 4"/>
          <p:cNvSpPr txBox="1"/>
          <p:nvPr/>
        </p:nvSpPr>
        <p:spPr>
          <a:xfrm>
            <a:off x="8412480" y="4206240"/>
            <a:ext cx="3200400" cy="1920240"/>
          </a:xfrm>
          <a:prstGeom prst="rect">
            <a:avLst/>
          </a:prstGeom>
          <a:noFill/>
          <a:ln/>
        </p:spPr>
        <p:txBody>
          <a:bodyPr wrap="square" lIns="0" tIns="0" rIns="0" bIns="0" rtlCol="0" anchor="t"/>
          <a:lstStyle/>
          <a:p>
            <a:pPr indent="0" marL="0">
              <a:buNone/>
            </a:pPr>
            <a:r>
              <a:rPr lang="en-US" sz="2000" b="1" dirty="0">
                <a:solidFill>
                  <a:schemeClr val="tx1"/>
                </a:solidFill>
              </a:rPr>
              <a:t>Transfer failure means a within-study result has not been shown to be about the disease.</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Finding 3: classifiers that fire on the wrong group</a:t>
            </a:r>
            <a:endParaRPr lang="en-US" sz="3600" dirty="0"/>
          </a:p>
        </p:txBody>
      </p:sp>
      <p:pic>
        <p:nvPicPr>
          <p:cNvPr id="3" name="Cross-disorder heatmap" descr="Cross-disorder heatmap">    </p:cNvPr>
          <p:cNvPicPr>
            <a:picLocks noChangeAspect="1"/>
          </p:cNvPicPr>
          <p:nvPr/>
        </p:nvPicPr>
        <p:blipFill>
          <a:blip r:embed="rId1"/>
          <a:stretch>
            <a:fillRect/>
          </a:stretch>
        </p:blipFill>
        <p:spPr>
          <a:xfrm>
            <a:off x="548640" y="1325880"/>
            <a:ext cx="6341197" cy="4937760"/>
          </a:xfrm>
          <a:prstGeom prst="rect">
            <a:avLst/>
          </a:prstGeom>
        </p:spPr>
      </p:pic>
      <p:sp>
        <p:nvSpPr>
          <p:cNvPr id="4" name="stat of Kabuki cases are flagged by the CHARGE classifier (14 of 37)"/>
          <p:cNvSpPr/>
          <p:nvPr/>
        </p:nvSpPr>
        <p:spPr>
          <a:xfrm>
            <a:off x="8046720" y="1463040"/>
            <a:ext cx="3566160" cy="2240280"/>
          </a:xfrm>
          <a:prstGeom prst="roundRect">
            <a:avLst>
              <a:gd name="adj" fmla="val 3265"/>
            </a:avLst>
          </a:prstGeom>
          <a:solidFill>
            <a:schemeClr val="bg2"/>
          </a:solidFill>
          <a:ln w="12700">
            <a:solidFill>
              <a:schemeClr val="bg2"/>
            </a:solidFill>
            <a:prstDash val="solid"/>
          </a:ln>
        </p:spPr>
      </p:sp>
      <p:sp>
        <p:nvSpPr>
          <p:cNvPr id="5" name="Text 2"/>
          <p:cNvSpPr txBox="1"/>
          <p:nvPr/>
        </p:nvSpPr>
        <p:spPr>
          <a:xfrm>
            <a:off x="8275320" y="1600200"/>
            <a:ext cx="3108960" cy="100584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37.8%</a:t>
            </a:r>
            <a:endParaRPr lang="en-US" sz="5400" dirty="0"/>
          </a:p>
        </p:txBody>
      </p:sp>
      <p:sp>
        <p:nvSpPr>
          <p:cNvPr id="6" name="Text 3"/>
          <p:cNvSpPr txBox="1"/>
          <p:nvPr/>
        </p:nvSpPr>
        <p:spPr>
          <a:xfrm>
            <a:off x="8275320" y="2606040"/>
            <a:ext cx="3108960" cy="1005840"/>
          </a:xfrm>
          <a:prstGeom prst="rect">
            <a:avLst/>
          </a:prstGeom>
          <a:noFill/>
          <a:ln/>
        </p:spPr>
        <p:txBody>
          <a:bodyPr wrap="square" lIns="0" tIns="0" rIns="0" bIns="0" rtlCol="0" anchor="t"/>
          <a:lstStyle/>
          <a:p>
            <a:pPr indent="0" marL="0">
              <a:buNone/>
            </a:pPr>
            <a:r>
              <a:rPr lang="en-US" sz="2000" dirty="0">
                <a:solidFill>
                  <a:schemeClr val="tx2"/>
                </a:solidFill>
              </a:rPr>
              <a:t>of Kabuki cases are flagged by the CHARGE classifier (14 of 37)</a:t>
            </a:r>
            <a:endParaRPr lang="en-US" sz="2000" dirty="0"/>
          </a:p>
        </p:txBody>
      </p:sp>
      <p:sp>
        <p:nvSpPr>
          <p:cNvPr id="7" name="stat of healthy controls flagged by a classifier built with another laboratory's controls"/>
          <p:cNvSpPr/>
          <p:nvPr/>
        </p:nvSpPr>
        <p:spPr>
          <a:xfrm>
            <a:off x="8046720" y="3886200"/>
            <a:ext cx="3566160" cy="2331720"/>
          </a:xfrm>
          <a:prstGeom prst="roundRect">
            <a:avLst>
              <a:gd name="adj" fmla="val 3137"/>
            </a:avLst>
          </a:prstGeom>
          <a:solidFill>
            <a:schemeClr val="bg2"/>
          </a:solidFill>
          <a:ln w="12700">
            <a:solidFill>
              <a:schemeClr val="bg2"/>
            </a:solidFill>
            <a:prstDash val="solid"/>
          </a:ln>
        </p:spPr>
      </p:sp>
      <p:sp>
        <p:nvSpPr>
          <p:cNvPr id="8" name="Text 5"/>
          <p:cNvSpPr txBox="1"/>
          <p:nvPr/>
        </p:nvSpPr>
        <p:spPr>
          <a:xfrm>
            <a:off x="8275320" y="4023360"/>
            <a:ext cx="3108960" cy="1005840"/>
          </a:xfrm>
          <a:prstGeom prst="rect">
            <a:avLst/>
          </a:prstGeom>
          <a:noFill/>
          <a:ln/>
        </p:spPr>
        <p:txBody>
          <a:bodyPr wrap="square" lIns="0" tIns="0" rIns="0" bIns="0" rtlCol="0" anchor="t"/>
          <a:lstStyle/>
          <a:p>
            <a:pPr indent="0" marL="0">
              <a:buNone/>
            </a:pPr>
            <a:r>
              <a:rPr lang="en-US" sz="5400" b="1" dirty="0">
                <a:solidFill>
                  <a:schemeClr val="accent6"/>
                </a:solidFill>
                <a:latin typeface="Cambria" pitchFamily="34" charset="0"/>
                <a:ea typeface="Cambria" pitchFamily="34" charset="-122"/>
                <a:cs typeface="Cambria" pitchFamily="34" charset="-120"/>
              </a:rPr>
              <a:t>85.8%</a:t>
            </a:r>
            <a:endParaRPr lang="en-US" sz="5400" dirty="0"/>
          </a:p>
        </p:txBody>
      </p:sp>
      <p:sp>
        <p:nvSpPr>
          <p:cNvPr id="9" name="Text 6"/>
          <p:cNvSpPr txBox="1"/>
          <p:nvPr/>
        </p:nvSpPr>
        <p:spPr>
          <a:xfrm>
            <a:off x="8275320" y="5029200"/>
            <a:ext cx="3108960" cy="1097280"/>
          </a:xfrm>
          <a:prstGeom prst="rect">
            <a:avLst/>
          </a:prstGeom>
          <a:noFill/>
          <a:ln/>
        </p:spPr>
        <p:txBody>
          <a:bodyPr wrap="square" lIns="0" tIns="0" rIns="0" bIns="0" rtlCol="0" anchor="t"/>
          <a:lstStyle/>
          <a:p>
            <a:pPr indent="0" marL="0">
              <a:buNone/>
            </a:pPr>
            <a:r>
              <a:rPr lang="en-US" sz="2000" dirty="0">
                <a:solidFill>
                  <a:schemeClr val="tx2"/>
                </a:solidFill>
              </a:rPr>
              <a:t>of healthy controls flagged by a classifier built with another laboratory's controls</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Bring your own signature: five tests</a:t>
            </a:r>
            <a:endParaRPr lang="en-US" sz="3600" dirty="0"/>
          </a:p>
        </p:txBody>
      </p:sp>
      <p:graphicFrame>
        <p:nvGraphicFramePr>
          <p:cNvPr id="12" name="fixture result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4297680"/>
                <a:gridCol w="6793992"/>
              </a:tblGrid>
              <a:tr h="621792">
                <a:tc>
                  <a:txBody>
                    <a:bodyPr/>
                    <a:lstStyle/>
                    <a:p>
                      <a:pPr indent="0" marL="0">
                        <a:buNone/>
                      </a:pPr>
                      <a:r>
                        <a:rPr lang="en-US" sz="2000" b="1" dirty="0">
                          <a:solidFill>
                            <a:srgbClr val="FFFFFF"/>
                          </a:solidFill>
                        </a:rPr>
                        <a:t>Signature submitted</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c>
                  <a:txBody>
                    <a:bodyPr/>
                    <a:lstStyle/>
                    <a:p>
                      <a:pPr indent="0" marL="0">
                        <a:buNone/>
                      </a:pPr>
                      <a:r>
                        <a:rPr lang="en-US" sz="2000" b="1" dirty="0">
                          <a:solidFill>
                            <a:srgbClr val="FFFFFF"/>
                          </a:solidFill>
                        </a:rPr>
                        <a:t>Result across 12 disorders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r>
              <a:tr h="621792">
                <a:tc>
                  <a:txBody>
                    <a:bodyPr/>
                    <a:lstStyle/>
                    <a:p>
                      <a:pPr indent="0" marL="0">
                        <a:buNone/>
                      </a:pPr>
                      <a:r>
                        <a:rPr lang="en-US" sz="2000" dirty="0">
                          <a:solidFill>
                            <a:srgbClr val="14213D"/>
                          </a:solidFill>
                        </a:rPr>
                        <a:t>500 real Sotos probes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Sotos; score 125 against 31 for the runner-up</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621792">
                <a:tc>
                  <a:txBody>
                    <a:bodyPr/>
                    <a:lstStyle/>
                    <a:p>
                      <a:pPr indent="0" marL="0">
                        <a:buNone/>
                      </a:pPr>
                      <a:r>
                        <a:rPr lang="en-US" sz="2000" dirty="0">
                          <a:solidFill>
                            <a:srgbClr val="14213D"/>
                          </a:solidFill>
                        </a:rPr>
                        <a:t>500 random probes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No match (though raw AUC reaches 1.00)</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r>
              <a:tr h="621792">
                <a:tc>
                  <a:txBody>
                    <a:bodyPr/>
                    <a:lstStyle/>
                    <a:p>
                      <a:pPr indent="0" marL="0">
                        <a:buNone/>
                      </a:pPr>
                      <a:r>
                        <a:rPr lang="en-US" sz="2000" dirty="0">
                          <a:solidFill>
                            <a:srgbClr val="14213D"/>
                          </a:solidFill>
                        </a:rPr>
                        <a:t>Sotos probes, directions inverted</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Sotos; 500 of 500 directions flagged as inverted</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621792">
                <a:tc>
                  <a:txBody>
                    <a:bodyPr/>
                    <a:lstStyle/>
                    <a:p>
                      <a:pPr indent="0" marL="0">
                        <a:buNone/>
                      </a:pPr>
                      <a:r>
                        <a:rPr lang="en-US" sz="2000" dirty="0">
                          <a:solidFill>
                            <a:srgbClr val="14213D"/>
                          </a:solidFill>
                        </a:rPr>
                        <a:t>20 Sotos probes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2000" dirty="0">
                          <a:solidFill>
                            <a:srgbClr val="14213D"/>
                          </a:solidFill>
                        </a:rPr>
                        <a:t>Sotos; score 26 against 11 for the runner-up</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r>
              <a:tr h="621792">
                <a:tc>
                  <a:txBody>
                    <a:bodyPr/>
                    <a:lstStyle/>
                    <a:p>
                      <a:pPr indent="0" marL="0">
                        <a:buNone/>
                      </a:pPr>
                      <a:r>
                        <a:rPr lang="en-US" sz="2000" dirty="0">
                          <a:solidFill>
                            <a:srgbClr val="14213D"/>
                          </a:solidFill>
                        </a:rPr>
                        <a:t>500 probes not in the data</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2000" dirty="0">
                          <a:solidFill>
                            <a:srgbClr val="14213D"/>
                          </a:solidFill>
                        </a:rPr>
                        <a:t>Refused: too few usable probes</a:t>
                      </a:r>
                      <a:endParaRPr lang="en-US" sz="20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440680"/>
            <a:ext cx="11091672" cy="822960"/>
          </a:xfrm>
          <a:prstGeom prst="rect">
            <a:avLst/>
          </a:prstGeom>
          <a:noFill/>
          <a:ln/>
        </p:spPr>
        <p:txBody>
          <a:bodyPr wrap="square" lIns="0" tIns="0" rIns="0" bIns="0" rtlCol="0" anchor="t"/>
          <a:lstStyle/>
          <a:p>
            <a:pPr indent="0" marL="0">
              <a:buNone/>
            </a:pPr>
            <a:r>
              <a:rPr lang="en-US" sz="2200" b="1" dirty="0">
                <a:solidFill>
                  <a:schemeClr val="accent5"/>
                </a:solidFill>
              </a:rPr>
              <a:t>Random probes separate Sotos cases perfectly, so a match must also beat 1,000 random probe sets of the same size.</a:t>
            </a:r>
            <a:endParaRPr lang="en-US" sz="22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Live demo: test your own signature</a:t>
            </a:r>
            <a:endParaRPr lang="en-US" sz="3600" dirty="0"/>
          </a:p>
        </p:txBody>
      </p:sp>
      <p:pic>
        <p:nvPicPr>
          <p:cNvPr id="3" name="Screenshot of the Test your own signature page" descr="Screenshot of the Test your own signature page">    </p:cNvPr>
          <p:cNvPicPr>
            <a:picLocks noChangeAspect="1"/>
          </p:cNvPicPr>
          <p:nvPr/>
        </p:nvPicPr>
        <p:blipFill>
          <a:blip r:embed="rId1"/>
          <a:stretch>
            <a:fillRect/>
          </a:stretch>
        </p:blipFill>
        <p:spPr>
          <a:xfrm>
            <a:off x="548640" y="1371600"/>
            <a:ext cx="5204251" cy="4846320"/>
          </a:xfrm>
          <a:prstGeom prst="rect">
            <a:avLst/>
          </a:prstGeom>
        </p:spPr>
      </p:pic>
      <p:sp>
        <p:nvSpPr>
          <p:cNvPr id="4" name="Text 1"/>
          <p:cNvSpPr txBox="1"/>
          <p:nvPr/>
        </p:nvSpPr>
        <p:spPr>
          <a:xfrm>
            <a:off x="7406640" y="1554480"/>
            <a:ext cx="4206240" cy="393192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tx1"/>
                </a:solidFill>
              </a:rPr>
              <a:t>Upload a probe list, or pick an example</a:t>
            </a:r>
            <a:endParaRPr lang="en-US" sz="2000" dirty="0"/>
          </a:p>
          <a:p>
            <a:pPr marL="342900" indent="-342900">
              <a:spcAft>
                <a:spcPts val="1200"/>
              </a:spcAft>
              <a:buSzPct val="100000"/>
              <a:buChar char="•"/>
            </a:pPr>
            <a:r>
              <a:rPr lang="en-US" sz="2000" dirty="0">
                <a:solidFill>
                  <a:schemeClr val="tx1"/>
                </a:solidFill>
              </a:rPr>
              <a:t>Coverage on three array platforms</a:t>
            </a:r>
            <a:endParaRPr lang="en-US" sz="2000" dirty="0"/>
          </a:p>
          <a:p>
            <a:pPr marL="342900" indent="-342900">
              <a:spcAft>
                <a:spcPts val="1200"/>
              </a:spcAft>
              <a:buSzPct val="100000"/>
              <a:buChar char="•"/>
            </a:pPr>
            <a:r>
              <a:rPr lang="en-US" sz="2000" dirty="0">
                <a:solidFill>
                  <a:schemeClr val="tx1"/>
                </a:solidFill>
              </a:rPr>
              <a:t>A verdict that states how many disorders were searched</a:t>
            </a:r>
            <a:endParaRPr lang="en-US" sz="2000" dirty="0"/>
          </a:p>
          <a:p>
            <a:pPr marL="342900" indent="-342900">
              <a:spcAft>
                <a:spcPts val="1200"/>
              </a:spcAft>
              <a:buSzPct val="100000"/>
              <a:buChar char="•"/>
            </a:pPr>
            <a:r>
              <a:rPr lang="en-US" sz="2000" dirty="0">
                <a:solidFill>
                  <a:schemeClr val="tx1"/>
                </a:solidFill>
              </a:rPr>
              <a:t>A warning when the match is within one study only</a:t>
            </a:r>
            <a:endParaRPr lang="en-US" sz="2000" dirty="0"/>
          </a:p>
          <a:p>
            <a:pPr marL="342900" indent="-342900">
              <a:spcAft>
                <a:spcPts val="1200"/>
              </a:spcAft>
              <a:buSzPct val="100000"/>
              <a:buChar char="•"/>
            </a:pPr>
            <a:r>
              <a:rPr lang="en-US" sz="2000" dirty="0">
                <a:solidFill>
                  <a:schemeClr val="tx1"/>
                </a:solidFill>
              </a:rPr>
              <a:t>Runs offline from files in the repository</a:t>
            </a:r>
            <a:endParaRPr lang="en-US" sz="2000" dirty="0"/>
          </a:p>
        </p:txBody>
      </p:sp>
      <p:sp>
        <p:nvSpPr>
          <p:cNvPr id="5" name="Text 2"/>
          <p:cNvSpPr txBox="1"/>
          <p:nvPr/>
        </p:nvSpPr>
        <p:spPr>
          <a:xfrm>
            <a:off x="7406640" y="5532120"/>
            <a:ext cx="4206240" cy="685800"/>
          </a:xfrm>
          <a:prstGeom prst="rect">
            <a:avLst/>
          </a:prstGeom>
          <a:noFill/>
          <a:ln/>
        </p:spPr>
        <p:txBody>
          <a:bodyPr wrap="square" lIns="0" tIns="0" rIns="0" bIns="0" rtlCol="0" anchor="t"/>
          <a:lstStyle/>
          <a:p>
            <a:pPr indent="0" marL="0">
              <a:buNone/>
            </a:pPr>
            <a:r>
              <a:rPr lang="en-US" sz="2000" i="1" dirty="0">
                <a:solidFill>
                  <a:schemeClr val="tx2"/>
                </a:solidFill>
              </a:rPr>
              <a:t>Probe identifiers only. No patient data is ever accepted.</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What is ours and what is not</a:t>
            </a:r>
            <a:endParaRPr lang="en-US" sz="3600" dirty="0"/>
          </a:p>
        </p:txBody>
      </p:sp>
      <p:sp>
        <p:nvSpPr>
          <p:cNvPr id="3" name="Not ours panel"/>
          <p:cNvSpPr/>
          <p:nvPr/>
        </p:nvSpPr>
        <p:spPr>
          <a:xfrm>
            <a:off x="548640" y="1508760"/>
            <a:ext cx="5349240" cy="3703320"/>
          </a:xfrm>
          <a:prstGeom prst="roundRect">
            <a:avLst>
              <a:gd name="adj" fmla="val 1975"/>
            </a:avLst>
          </a:prstGeom>
          <a:solidFill>
            <a:schemeClr val="bg2"/>
          </a:solidFill>
          <a:ln w="12700">
            <a:solidFill>
              <a:schemeClr val="bg2"/>
            </a:solidFill>
            <a:prstDash val="solid"/>
          </a:ln>
        </p:spPr>
      </p:sp>
      <p:sp>
        <p:nvSpPr>
          <p:cNvPr id="4" name="Not ours marker"/>
          <p:cNvSpPr/>
          <p:nvPr/>
        </p:nvSpPr>
        <p:spPr>
          <a:xfrm>
            <a:off x="868680" y="1783080"/>
            <a:ext cx="457200" cy="457200"/>
          </a:xfrm>
          <a:prstGeom prst="ellipse">
            <a:avLst/>
          </a:prstGeom>
          <a:solidFill>
            <a:schemeClr val="accent4"/>
          </a:solidFill>
          <a:ln w="12700">
            <a:solidFill>
              <a:schemeClr val="accent4"/>
            </a:solidFill>
            <a:prstDash val="solid"/>
          </a:ln>
        </p:spPr>
      </p:sp>
      <p:sp>
        <p:nvSpPr>
          <p:cNvPr id="5" name="Text 3"/>
          <p:cNvSpPr txBox="1"/>
          <p:nvPr/>
        </p:nvSpPr>
        <p:spPr>
          <a:xfrm>
            <a:off x="1508760" y="1755648"/>
            <a:ext cx="4023360" cy="502920"/>
          </a:xfrm>
          <a:prstGeom prst="rect">
            <a:avLst/>
          </a:prstGeom>
          <a:noFill/>
          <a:ln/>
        </p:spPr>
        <p:txBody>
          <a:bodyPr wrap="square" lIns="0" tIns="0" rIns="0" bIns="0" rtlCol="0" anchor="ctr"/>
          <a:lstStyle/>
          <a:p>
            <a:pPr indent="0" marL="0">
              <a:buNone/>
            </a:pPr>
            <a:r>
              <a:rPr lang="en-US" sz="2600" b="1" dirty="0">
                <a:solidFill>
                  <a:schemeClr val="tx1"/>
                </a:solidFill>
              </a:rPr>
              <a:t>Not ours</a:t>
            </a:r>
            <a:endParaRPr lang="en-US" sz="2600" dirty="0"/>
          </a:p>
        </p:txBody>
      </p:sp>
      <p:sp>
        <p:nvSpPr>
          <p:cNvPr id="6" name="Text 4"/>
          <p:cNvSpPr txBox="1"/>
          <p:nvPr/>
        </p:nvSpPr>
        <p:spPr>
          <a:xfrm>
            <a:off x="868680" y="2514600"/>
            <a:ext cx="4709160" cy="256032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tx1"/>
                </a:solidFill>
              </a:rPr>
              <a:t>The calibration method (Pejaver 2022; a general tool is on CRAN)</a:t>
            </a:r>
            <a:endParaRPr lang="en-US" sz="2000" dirty="0"/>
          </a:p>
          <a:p>
            <a:pPr marL="342900" indent="-342900">
              <a:spcAft>
                <a:spcPts val="1200"/>
              </a:spcAft>
              <a:buSzPct val="100000"/>
              <a:buChar char="•"/>
            </a:pPr>
            <a:r>
              <a:rPr lang="en-US" sz="2000" dirty="0">
                <a:solidFill>
                  <a:schemeClr val="tx1"/>
                </a:solidFill>
              </a:rPr>
              <a:t>Testing one disorder against another (routine inside the private database)</a:t>
            </a:r>
            <a:endParaRPr lang="en-US" sz="2000" dirty="0"/>
          </a:p>
          <a:p>
            <a:pPr marL="342900" indent="-342900">
              <a:spcAft>
                <a:spcPts val="1200"/>
              </a:spcAft>
              <a:buSzPct val="100000"/>
              <a:buChar char="•"/>
            </a:pPr>
            <a:r>
              <a:rPr lang="en-US" sz="2000" dirty="0">
                <a:solidFill>
                  <a:schemeClr val="tx1"/>
                </a:solidFill>
              </a:rPr>
              <a:t>Using a language model to read dataset labels (published benchmarks exist)</a:t>
            </a:r>
            <a:endParaRPr lang="en-US" sz="2000" dirty="0"/>
          </a:p>
        </p:txBody>
      </p:sp>
      <p:sp>
        <p:nvSpPr>
          <p:cNvPr id="7" name="Ours panel"/>
          <p:cNvSpPr/>
          <p:nvPr/>
        </p:nvSpPr>
        <p:spPr>
          <a:xfrm>
            <a:off x="6172200" y="1508760"/>
            <a:ext cx="5349240" cy="3703320"/>
          </a:xfrm>
          <a:prstGeom prst="roundRect">
            <a:avLst>
              <a:gd name="adj" fmla="val 1975"/>
            </a:avLst>
          </a:prstGeom>
          <a:solidFill>
            <a:schemeClr val="bg2"/>
          </a:solidFill>
          <a:ln w="12700">
            <a:solidFill>
              <a:schemeClr val="bg2"/>
            </a:solidFill>
            <a:prstDash val="solid"/>
          </a:ln>
        </p:spPr>
      </p:sp>
      <p:sp>
        <p:nvSpPr>
          <p:cNvPr id="8" name="Ours marker"/>
          <p:cNvSpPr/>
          <p:nvPr/>
        </p:nvSpPr>
        <p:spPr>
          <a:xfrm>
            <a:off x="6492240" y="1783080"/>
            <a:ext cx="457200" cy="457200"/>
          </a:xfrm>
          <a:prstGeom prst="ellipse">
            <a:avLst/>
          </a:prstGeom>
          <a:solidFill>
            <a:schemeClr val="accent1"/>
          </a:solidFill>
          <a:ln w="12700">
            <a:solidFill>
              <a:schemeClr val="accent1"/>
            </a:solidFill>
            <a:prstDash val="solid"/>
          </a:ln>
        </p:spPr>
      </p:sp>
      <p:sp>
        <p:nvSpPr>
          <p:cNvPr id="9" name="Text 7"/>
          <p:cNvSpPr txBox="1"/>
          <p:nvPr/>
        </p:nvSpPr>
        <p:spPr>
          <a:xfrm>
            <a:off x="7132320" y="1755648"/>
            <a:ext cx="4023360" cy="502920"/>
          </a:xfrm>
          <a:prstGeom prst="rect">
            <a:avLst/>
          </a:prstGeom>
          <a:noFill/>
          <a:ln/>
        </p:spPr>
        <p:txBody>
          <a:bodyPr wrap="square" lIns="0" tIns="0" rIns="0" bIns="0" rtlCol="0" anchor="ctr"/>
          <a:lstStyle/>
          <a:p>
            <a:pPr indent="0" marL="0">
              <a:buNone/>
            </a:pPr>
            <a:r>
              <a:rPr lang="en-US" sz="2600" b="1" dirty="0">
                <a:solidFill>
                  <a:schemeClr val="tx1"/>
                </a:solidFill>
              </a:rPr>
              <a:t>Ours</a:t>
            </a:r>
            <a:endParaRPr lang="en-US" sz="2600" dirty="0"/>
          </a:p>
        </p:txBody>
      </p:sp>
      <p:sp>
        <p:nvSpPr>
          <p:cNvPr id="10" name="Text 8"/>
          <p:cNvSpPr txBox="1"/>
          <p:nvPr/>
        </p:nvSpPr>
        <p:spPr>
          <a:xfrm>
            <a:off x="6492240" y="2514600"/>
            <a:ext cx="4709160" cy="256032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tx1"/>
                </a:solidFill>
              </a:rPr>
              <a:t>Every result regenerated from public data by one command</a:t>
            </a:r>
            <a:endParaRPr lang="en-US" sz="2000" dirty="0"/>
          </a:p>
          <a:p>
            <a:pPr marL="342900" indent="-342900">
              <a:spcAft>
                <a:spcPts val="1200"/>
              </a:spcAft>
              <a:buSzPct val="100000"/>
              <a:buChar char="•"/>
            </a:pPr>
            <a:r>
              <a:rPr lang="en-US" sz="2000" dirty="0">
                <a:solidFill>
                  <a:schemeClr val="tx1"/>
                </a:solidFill>
              </a:rPr>
              <a:t>The audit: 12 verdicts, 6 cross-study attempts, a full 12 by 13 matrix</a:t>
            </a:r>
            <a:endParaRPr lang="en-US" sz="2000" dirty="0"/>
          </a:p>
          <a:p>
            <a:pPr marL="342900" indent="-342900">
              <a:spcAft>
                <a:spcPts val="1200"/>
              </a:spcAft>
              <a:buSzPct val="100000"/>
              <a:buChar char="•"/>
            </a:pPr>
            <a:r>
              <a:rPr lang="en-US" sz="2000" dirty="0">
                <a:solidFill>
                  <a:schemeClr val="tx1"/>
                </a:solidFill>
              </a:rPr>
              <a:t>The identification engine with its random-probe control</a:t>
            </a:r>
            <a:endParaRPr lang="en-US" sz="2000" dirty="0"/>
          </a:p>
        </p:txBody>
      </p:sp>
      <p:sp>
        <p:nvSpPr>
          <p:cNvPr id="11" name="Text 9"/>
          <p:cNvSpPr txBox="1"/>
          <p:nvPr/>
        </p:nvSpPr>
        <p:spPr>
          <a:xfrm>
            <a:off x="548640" y="5486400"/>
            <a:ext cx="11091672" cy="548640"/>
          </a:xfrm>
          <a:prstGeom prst="rect">
            <a:avLst/>
          </a:prstGeom>
          <a:noFill/>
          <a:ln/>
        </p:spPr>
        <p:txBody>
          <a:bodyPr wrap="square" lIns="0" tIns="0" rIns="0" bIns="0" rtlCol="0" anchor="t"/>
          <a:lstStyle/>
          <a:p>
            <a:pPr indent="0" marL="0">
              <a:buNone/>
            </a:pPr>
            <a:r>
              <a:rPr lang="en-US" sz="2400" b="1" dirty="0">
                <a:solidFill>
                  <a:schemeClr val="accent5"/>
                </a:solidFill>
              </a:rPr>
              <a:t>Our claim is that this can be checked, not that the methods are new.</a:t>
            </a:r>
            <a:endParaRPr lang="en-US" sz="24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Limitations, before you ask</a:t>
            </a:r>
            <a:endParaRPr lang="en-US" sz="3600" dirty="0"/>
          </a:p>
        </p:txBody>
      </p:sp>
      <p:sp>
        <p:nvSpPr>
          <p:cNvPr id="3" name="limitation 1"/>
          <p:cNvSpPr/>
          <p:nvPr/>
        </p:nvSpPr>
        <p:spPr>
          <a:xfrm>
            <a:off x="548640" y="1508760"/>
            <a:ext cx="5349240" cy="2148840"/>
          </a:xfrm>
          <a:prstGeom prst="roundRect">
            <a:avLst>
              <a:gd name="adj" fmla="val 3404"/>
            </a:avLst>
          </a:prstGeom>
          <a:solidFill>
            <a:schemeClr val="bg2"/>
          </a:solidFill>
          <a:ln w="12700">
            <a:solidFill>
              <a:schemeClr val="bg2"/>
            </a:solidFill>
            <a:prstDash val="solid"/>
          </a:ln>
        </p:spPr>
      </p:sp>
      <p:sp>
        <p:nvSpPr>
          <p:cNvPr id="4" name="Text 2"/>
          <p:cNvSpPr txBox="1"/>
          <p:nvPr/>
        </p:nvSpPr>
        <p:spPr>
          <a:xfrm>
            <a:off x="868680" y="1737360"/>
            <a:ext cx="4709160" cy="457200"/>
          </a:xfrm>
          <a:prstGeom prst="rect">
            <a:avLst/>
          </a:prstGeom>
          <a:noFill/>
          <a:ln/>
        </p:spPr>
        <p:txBody>
          <a:bodyPr wrap="square" lIns="0" tIns="0" rIns="0" bIns="0" rtlCol="0" anchor="t"/>
          <a:lstStyle/>
          <a:p>
            <a:pPr indent="0" marL="0">
              <a:buNone/>
            </a:pPr>
            <a:r>
              <a:rPr lang="en-US" sz="2400" b="1" dirty="0">
                <a:solidFill>
                  <a:schemeClr val="accent6"/>
                </a:solidFill>
              </a:rPr>
              <a:t>Small numbers</a:t>
            </a:r>
            <a:endParaRPr lang="en-US" sz="2400" dirty="0"/>
          </a:p>
        </p:txBody>
      </p:sp>
      <p:sp>
        <p:nvSpPr>
          <p:cNvPr id="5" name="Text 3"/>
          <p:cNvSpPr txBox="1"/>
          <p:nvPr/>
        </p:nvSpPr>
        <p:spPr>
          <a:xfrm>
            <a:off x="868680" y="2286000"/>
            <a:ext cx="4709160" cy="1280160"/>
          </a:xfrm>
          <a:prstGeom prst="rect">
            <a:avLst/>
          </a:prstGeom>
          <a:noFill/>
          <a:ln/>
        </p:spPr>
        <p:txBody>
          <a:bodyPr wrap="square" lIns="0" tIns="0" rIns="0" bIns="0" rtlCol="0" anchor="t"/>
          <a:lstStyle/>
          <a:p>
            <a:pPr indent="0" marL="0">
              <a:buNone/>
            </a:pPr>
            <a:r>
              <a:rPr lang="en-US" sz="2000" dirty="0">
                <a:solidFill>
                  <a:schemeClr val="tx2"/>
                </a:solidFill>
              </a:rPr>
              <a:t>The headline cross-study result rests on 18 cases and 6 controls.</a:t>
            </a:r>
            <a:endParaRPr lang="en-US" sz="2000" dirty="0"/>
          </a:p>
        </p:txBody>
      </p:sp>
      <p:sp>
        <p:nvSpPr>
          <p:cNvPr id="6" name="limitation 2"/>
          <p:cNvSpPr/>
          <p:nvPr/>
        </p:nvSpPr>
        <p:spPr>
          <a:xfrm>
            <a:off x="6172200" y="1508760"/>
            <a:ext cx="5349240" cy="2148840"/>
          </a:xfrm>
          <a:prstGeom prst="roundRect">
            <a:avLst>
              <a:gd name="adj" fmla="val 3404"/>
            </a:avLst>
          </a:prstGeom>
          <a:solidFill>
            <a:schemeClr val="bg2"/>
          </a:solidFill>
          <a:ln w="12700">
            <a:solidFill>
              <a:schemeClr val="bg2"/>
            </a:solidFill>
            <a:prstDash val="solid"/>
          </a:ln>
        </p:spPr>
      </p:sp>
      <p:sp>
        <p:nvSpPr>
          <p:cNvPr id="7" name="Text 5"/>
          <p:cNvSpPr txBox="1"/>
          <p:nvPr/>
        </p:nvSpPr>
        <p:spPr>
          <a:xfrm>
            <a:off x="6492240" y="1737360"/>
            <a:ext cx="4709160" cy="457200"/>
          </a:xfrm>
          <a:prstGeom prst="rect">
            <a:avLst/>
          </a:prstGeom>
          <a:noFill/>
          <a:ln/>
        </p:spPr>
        <p:txBody>
          <a:bodyPr wrap="square" lIns="0" tIns="0" rIns="0" bIns="0" rtlCol="0" anchor="t"/>
          <a:lstStyle/>
          <a:p>
            <a:pPr indent="0" marL="0">
              <a:buNone/>
            </a:pPr>
            <a:r>
              <a:rPr lang="en-US" sz="2400" b="1" dirty="0">
                <a:solidFill>
                  <a:schemeClr val="accent6"/>
                </a:solidFill>
              </a:rPr>
              <a:t>Borrowed controls</a:t>
            </a:r>
            <a:endParaRPr lang="en-US" sz="2400" dirty="0"/>
          </a:p>
        </p:txBody>
      </p:sp>
      <p:sp>
        <p:nvSpPr>
          <p:cNvPr id="8" name="Text 6"/>
          <p:cNvSpPr txBox="1"/>
          <p:nvPr/>
        </p:nvSpPr>
        <p:spPr>
          <a:xfrm>
            <a:off x="6492240" y="2286000"/>
            <a:ext cx="4709160" cy="1280160"/>
          </a:xfrm>
          <a:prstGeom prst="rect">
            <a:avLst/>
          </a:prstGeom>
          <a:noFill/>
          <a:ln/>
        </p:spPr>
        <p:txBody>
          <a:bodyPr wrap="square" lIns="0" tIns="0" rIns="0" bIns="0" rtlCol="0" anchor="t"/>
          <a:lstStyle/>
          <a:p>
            <a:pPr indent="0" marL="0">
              <a:buNone/>
            </a:pPr>
            <a:r>
              <a:rPr lang="en-US" sz="2000" dirty="0">
                <a:solidFill>
                  <a:schemeClr val="tx2"/>
                </a:solidFill>
              </a:rPr>
              <a:t>Two signatures used another laboratory's controls and one used siblings. They are flagged, not trusted.</a:t>
            </a:r>
            <a:endParaRPr lang="en-US" sz="2000" dirty="0"/>
          </a:p>
        </p:txBody>
      </p:sp>
      <p:sp>
        <p:nvSpPr>
          <p:cNvPr id="9" name="limitation 3"/>
          <p:cNvSpPr/>
          <p:nvPr/>
        </p:nvSpPr>
        <p:spPr>
          <a:xfrm>
            <a:off x="548640" y="3886200"/>
            <a:ext cx="5349240" cy="2148840"/>
          </a:xfrm>
          <a:prstGeom prst="roundRect">
            <a:avLst>
              <a:gd name="adj" fmla="val 3404"/>
            </a:avLst>
          </a:prstGeom>
          <a:solidFill>
            <a:schemeClr val="bg2"/>
          </a:solidFill>
          <a:ln w="12700">
            <a:solidFill>
              <a:schemeClr val="bg2"/>
            </a:solidFill>
            <a:prstDash val="solid"/>
          </a:ln>
        </p:spPr>
      </p:sp>
      <p:sp>
        <p:nvSpPr>
          <p:cNvPr id="10" name="Text 8"/>
          <p:cNvSpPr txBox="1"/>
          <p:nvPr/>
        </p:nvSpPr>
        <p:spPr>
          <a:xfrm>
            <a:off x="868680" y="4114800"/>
            <a:ext cx="4709160" cy="457200"/>
          </a:xfrm>
          <a:prstGeom prst="rect">
            <a:avLst/>
          </a:prstGeom>
          <a:noFill/>
          <a:ln/>
        </p:spPr>
        <p:txBody>
          <a:bodyPr wrap="square" lIns="0" tIns="0" rIns="0" bIns="0" rtlCol="0" anchor="t"/>
          <a:lstStyle/>
          <a:p>
            <a:pPr indent="0" marL="0">
              <a:buNone/>
            </a:pPr>
            <a:r>
              <a:rPr lang="en-US" sz="2400" b="1" dirty="0">
                <a:solidFill>
                  <a:schemeClr val="accent6"/>
                </a:solidFill>
              </a:rPr>
              <a:t>Optimistic self-scores</a:t>
            </a:r>
            <a:endParaRPr lang="en-US" sz="2400" dirty="0"/>
          </a:p>
        </p:txBody>
      </p:sp>
      <p:sp>
        <p:nvSpPr>
          <p:cNvPr id="11" name="Text 9"/>
          <p:cNvSpPr txBox="1"/>
          <p:nvPr/>
        </p:nvSpPr>
        <p:spPr>
          <a:xfrm>
            <a:off x="868680" y="4663440"/>
            <a:ext cx="4709160" cy="1280160"/>
          </a:xfrm>
          <a:prstGeom prst="rect">
            <a:avLst/>
          </a:prstGeom>
          <a:noFill/>
          <a:ln/>
        </p:spPr>
        <p:txBody>
          <a:bodyPr wrap="square" lIns="0" tIns="0" rIns="0" bIns="0" rtlCol="0" anchor="t"/>
          <a:lstStyle/>
          <a:p>
            <a:pPr indent="0" marL="0">
              <a:buNone/>
            </a:pPr>
            <a:r>
              <a:rPr lang="en-US" sz="2000" dirty="0">
                <a:solidFill>
                  <a:schemeClr val="tx2"/>
                </a:solidFill>
              </a:rPr>
              <a:t>Probes were chosen using all training samples, so own-disorder sensitivity is flattering.</a:t>
            </a:r>
            <a:endParaRPr lang="en-US" sz="2000" dirty="0"/>
          </a:p>
        </p:txBody>
      </p:sp>
      <p:sp>
        <p:nvSpPr>
          <p:cNvPr id="12" name="limitation 4"/>
          <p:cNvSpPr/>
          <p:nvPr/>
        </p:nvSpPr>
        <p:spPr>
          <a:xfrm>
            <a:off x="6172200" y="3886200"/>
            <a:ext cx="5349240" cy="2148840"/>
          </a:xfrm>
          <a:prstGeom prst="roundRect">
            <a:avLst>
              <a:gd name="adj" fmla="val 3404"/>
            </a:avLst>
          </a:prstGeom>
          <a:solidFill>
            <a:schemeClr val="bg2"/>
          </a:solidFill>
          <a:ln w="12700">
            <a:solidFill>
              <a:schemeClr val="bg2"/>
            </a:solidFill>
            <a:prstDash val="solid"/>
          </a:ln>
        </p:spPr>
      </p:sp>
      <p:sp>
        <p:nvSpPr>
          <p:cNvPr id="13" name="Text 11"/>
          <p:cNvSpPr txBox="1"/>
          <p:nvPr/>
        </p:nvSpPr>
        <p:spPr>
          <a:xfrm>
            <a:off x="6492240" y="4114800"/>
            <a:ext cx="4709160" cy="457200"/>
          </a:xfrm>
          <a:prstGeom prst="rect">
            <a:avLst/>
          </a:prstGeom>
          <a:noFill/>
          <a:ln/>
        </p:spPr>
        <p:txBody>
          <a:bodyPr wrap="square" lIns="0" tIns="0" rIns="0" bIns="0" rtlCol="0" anchor="t"/>
          <a:lstStyle/>
          <a:p>
            <a:pPr indent="0" marL="0">
              <a:buNone/>
            </a:pPr>
            <a:r>
              <a:rPr lang="en-US" sz="2400" b="1" dirty="0">
                <a:solidFill>
                  <a:schemeClr val="accent6"/>
                </a:solidFill>
              </a:rPr>
              <a:t>Labels checked by AI only</a:t>
            </a:r>
            <a:endParaRPr lang="en-US" sz="2400" dirty="0"/>
          </a:p>
        </p:txBody>
      </p:sp>
      <p:sp>
        <p:nvSpPr>
          <p:cNvPr id="14" name="Text 12"/>
          <p:cNvSpPr txBox="1"/>
          <p:nvPr/>
        </p:nvSpPr>
        <p:spPr>
          <a:xfrm>
            <a:off x="6492240" y="4663440"/>
            <a:ext cx="4709160" cy="1280160"/>
          </a:xfrm>
          <a:prstGeom prst="rect">
            <a:avLst/>
          </a:prstGeom>
          <a:noFill/>
          <a:ln/>
        </p:spPr>
        <p:txBody>
          <a:bodyPr wrap="square" lIns="0" tIns="0" rIns="0" bIns="0" rtlCol="0" anchor="t"/>
          <a:lstStyle/>
          <a:p>
            <a:pPr indent="0" marL="0">
              <a:buNone/>
            </a:pPr>
            <a:r>
              <a:rPr lang="en-US" sz="2000" dirty="0">
                <a:solidFill>
                  <a:schemeClr val="tx2"/>
                </a:solidFill>
              </a:rPr>
              <a:t>Two AI-written rule sets agree on 81 of 81 samples. Human curation is still pending.</a:t>
            </a:r>
            <a:endParaRPr lang="en-US" sz="2000" dirty="0"/>
          </a:p>
        </p:txBody>
      </p:sp>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1672" cy="1737360"/>
          </a:xfrm>
          <a:prstGeom prst="rect">
            <a:avLst/>
          </a:prstGeom>
          <a:noFill/>
          <a:ln/>
        </p:spPr>
        <p:txBody>
          <a:bodyPr wrap="square" lIns="0" tIns="0" rIns="0" bIns="0" rtlCol="0" anchor="t"/>
          <a:lstStyle/>
          <a:p>
            <a:pPr algn="l" indent="0" marL="0">
              <a:buNone/>
            </a:pPr>
            <a:r>
              <a:rPr lang="en-US" sz="4400" b="1" dirty="0">
                <a:solidFill>
                  <a:schemeClr val="bg1"/>
                </a:solidFill>
              </a:rPr>
              <a:t>Public data support far less than within-study numbers suggest</a:t>
            </a:r>
            <a:endParaRPr lang="en-US" sz="4400" dirty="0"/>
          </a:p>
        </p:txBody>
      </p:sp>
      <p:sp>
        <p:nvSpPr>
          <p:cNvPr id="3" name="Text 1"/>
          <p:cNvSpPr txBox="1"/>
          <p:nvPr/>
        </p:nvSpPr>
        <p:spPr>
          <a:xfrm>
            <a:off x="548640" y="3657600"/>
            <a:ext cx="11091672" cy="1737360"/>
          </a:xfrm>
          <a:prstGeom prst="rect">
            <a:avLst/>
          </a:prstGeom>
          <a:noFill/>
          <a:ln/>
        </p:spPr>
        <p:txBody>
          <a:bodyPr wrap="square" lIns="0" tIns="0" rIns="0" bIns="0" rtlCol="0" anchor="t"/>
          <a:lstStyle/>
          <a:p>
            <a:pPr marL="342900" indent="-342900">
              <a:spcAft>
                <a:spcPts val="800"/>
              </a:spcAft>
              <a:buSzPct val="100000"/>
              <a:buChar char="•"/>
            </a:pPr>
            <a:r>
              <a:rPr lang="en-US" sz="2200" dirty="0">
                <a:solidFill>
                  <a:schemeClr val="bg1"/>
                </a:solidFill>
              </a:rPr>
              <a:t>1 of 6 cross-study tests could be run</a:t>
            </a:r>
            <a:endParaRPr lang="en-US" sz="2200" dirty="0"/>
          </a:p>
          <a:p>
            <a:pPr marL="342900" indent="-342900">
              <a:spcAft>
                <a:spcPts val="800"/>
              </a:spcAft>
              <a:buSzPct val="100000"/>
              <a:buChar char="•"/>
            </a:pPr>
            <a:r>
              <a:rPr lang="en-US" sz="2200" dirty="0">
                <a:solidFill>
                  <a:schemeClr val="bg1"/>
                </a:solidFill>
              </a:rPr>
              <a:t>2 disorders have a between-study bound; both read "No evidence"</a:t>
            </a:r>
            <a:endParaRPr lang="en-US" sz="2200" dirty="0"/>
          </a:p>
          <a:p>
            <a:pPr marL="342900" indent="-342900">
              <a:spcAft>
                <a:spcPts val="800"/>
              </a:spcAft>
              <a:buSzPct val="100000"/>
              <a:buChar char="•"/>
            </a:pPr>
            <a:r>
              <a:rPr lang="en-US" sz="2200" dirty="0">
                <a:solidFill>
                  <a:schemeClr val="bg1"/>
                </a:solidFill>
              </a:rPr>
              <a:t>What the field needs: the same disorder from more than one site, with each site's own controls</a:t>
            </a:r>
            <a:endParaRPr lang="en-US" sz="2200" dirty="0"/>
          </a:p>
        </p:txBody>
      </p:sp>
      <p:sp>
        <p:nvSpPr>
          <p:cNvPr id="4" name="command panel"/>
          <p:cNvSpPr/>
          <p:nvPr/>
        </p:nvSpPr>
        <p:spPr>
          <a:xfrm>
            <a:off x="548640" y="5577840"/>
            <a:ext cx="11091672" cy="777240"/>
          </a:xfrm>
          <a:prstGeom prst="roundRect">
            <a:avLst>
              <a:gd name="adj" fmla="val 9412"/>
            </a:avLst>
          </a:prstGeom>
          <a:solidFill>
            <a:schemeClr val="tx2"/>
          </a:solidFill>
          <a:ln w="12700">
            <a:solidFill>
              <a:schemeClr val="tx2"/>
            </a:solidFill>
            <a:prstDash val="solid"/>
          </a:ln>
        </p:spPr>
      </p:sp>
      <p:sp>
        <p:nvSpPr>
          <p:cNvPr id="5" name="Text 3"/>
          <p:cNvSpPr txBox="1"/>
          <p:nvPr/>
        </p:nvSpPr>
        <p:spPr>
          <a:xfrm>
            <a:off x="822960" y="5577840"/>
            <a:ext cx="10543032" cy="777240"/>
          </a:xfrm>
          <a:prstGeom prst="rect">
            <a:avLst/>
          </a:prstGeom>
          <a:noFill/>
          <a:ln/>
        </p:spPr>
        <p:txBody>
          <a:bodyPr wrap="square" lIns="0" tIns="0" rIns="0" bIns="0" rtlCol="0" anchor="ctr"/>
          <a:lstStyle/>
          <a:p>
            <a:pPr indent="0" marL="0">
              <a:buNone/>
            </a:pPr>
            <a:r>
              <a:rPr lang="en-US" sz="2000" dirty="0">
                <a:solidFill>
                  <a:schemeClr val="bg1"/>
                </a:solidFill>
                <a:latin typeface="Courier New" pitchFamily="34" charset="0"/>
                <a:ea typeface="Courier New" pitchFamily="34" charset="-122"/>
                <a:cs typeface="Courier New" pitchFamily="34" charset="-120"/>
              </a:rPr>
              <a:t>python scripts/reproduce.py</a:t>
            </a:r>
            <a:endParaRPr lang="en-US" sz="2000" dirty="0"/>
          </a:p>
          <a:p>
            <a:pPr indent="0" marL="0">
              <a:buNone/>
            </a:pPr>
            <a:r>
              <a:rPr lang="en-US" sz="2000" dirty="0">
                <a:solidFill>
                  <a:schemeClr val="bg1"/>
                </a:solidFill>
                <a:latin typeface="Courier New" pitchFamily="34" charset="0"/>
                <a:ea typeface="Courier New" pitchFamily="34" charset="-122"/>
                <a:cs typeface="Courier New" pitchFamily="34" charset="-120"/>
              </a:rPr>
              <a:t>github.com/cleverlyblue0009/EpiGrade</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914400"/>
          </a:xfrm>
          <a:prstGeom prst="rect">
            <a:avLst/>
          </a:prstGeom>
          <a:noFill/>
          <a:ln/>
        </p:spPr>
        <p:txBody>
          <a:bodyPr wrap="square" lIns="0" tIns="0" rIns="0" bIns="0" rtlCol="0" anchor="ctr"/>
          <a:lstStyle/>
          <a:p>
            <a:pPr algn="l" indent="0" marL="0">
              <a:buNone/>
            </a:pPr>
            <a:r>
              <a:rPr lang="en-US" sz="3600" b="1" dirty="0">
                <a:solidFill>
                  <a:schemeClr val="tx1"/>
                </a:solidFill>
              </a:rPr>
              <a:t>Backup: methods, thresholds and data</a:t>
            </a:r>
            <a:endParaRPr lang="en-US" sz="3600" dirty="0"/>
          </a:p>
        </p:txBody>
      </p:sp>
      <p:graphicFrame>
        <p:nvGraphicFramePr>
          <p:cNvPr id="17" name="method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834640"/>
                <a:gridCol w="8257032"/>
              </a:tblGrid>
              <a:tr h="603504">
                <a:tc>
                  <a:txBody>
                    <a:bodyPr/>
                    <a:lstStyle/>
                    <a:p>
                      <a:pPr indent="0" marL="0">
                        <a:buNone/>
                      </a:pPr>
                      <a:r>
                        <a:rPr lang="en-US" sz="1600" b="1" dirty="0">
                          <a:solidFill>
                            <a:srgbClr val="FFFFFF"/>
                          </a:solidFill>
                        </a:rPr>
                        <a:t>Item</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c>
                  <a:txBody>
                    <a:bodyPr/>
                    <a:lstStyle/>
                    <a:p>
                      <a:pPr indent="0" marL="0">
                        <a:buNone/>
                      </a:pPr>
                      <a:r>
                        <a:rPr lang="en-US" sz="1600" b="1" dirty="0">
                          <a:solidFill>
                            <a:srgbClr val="FFFFFF"/>
                          </a:solidFill>
                        </a:rPr>
                        <a:t>Detail</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14213D"/>
                    </a:solidFill>
                  </a:tcPr>
                </a:tc>
              </a:tr>
              <a:tr h="603504">
                <a:tc>
                  <a:txBody>
                    <a:bodyPr/>
                    <a:lstStyle/>
                    <a:p>
                      <a:pPr indent="0" marL="0">
                        <a:buNone/>
                      </a:pPr>
                      <a:r>
                        <a:rPr lang="en-US" sz="1600" dirty="0">
                          <a:solidFill>
                            <a:srgbClr val="14213D"/>
                          </a:solidFill>
                        </a:rPr>
                        <a:t>Scoring rule</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Correlation with case profile minus correlation with control profile (Choufani 2015)</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603504">
                <a:tc>
                  <a:txBody>
                    <a:bodyPr/>
                    <a:lstStyle/>
                    <a:p>
                      <a:pPr indent="0" marL="0">
                        <a:buNone/>
                      </a:pPr>
                      <a:r>
                        <a:rPr lang="en-US" sz="1600" dirty="0">
                          <a:solidFill>
                            <a:srgbClr val="14213D"/>
                          </a:solidFill>
                        </a:rPr>
                        <a:t>Signature threshold</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1600" dirty="0">
                          <a:solidFill>
                            <a:srgbClr val="14213D"/>
                          </a:solidFill>
                        </a:rPr>
                        <a:t>Mann-Whitney test, false discovery rate 0.05, at least 10% methylation difference. Changed once, from Bonferroni and 20%.</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r>
              <a:tr h="603504">
                <a:tc>
                  <a:txBody>
                    <a:bodyPr/>
                    <a:lstStyle/>
                    <a:p>
                      <a:pPr indent="0" marL="0">
                        <a:buNone/>
                      </a:pPr>
                      <a:r>
                        <a:rPr lang="en-US" sz="1600" dirty="0">
                          <a:solidFill>
                            <a:srgbClr val="14213D"/>
                          </a:solidFill>
                        </a:rPr>
                        <a:t>Minimums</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10 cases to attempt a signature; 10 probes to keep one</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603504">
                <a:tc>
                  <a:txBody>
                    <a:bodyPr/>
                    <a:lstStyle/>
                    <a:p>
                      <a:pPr indent="0" marL="0">
                        <a:buNone/>
                      </a:pPr>
                      <a:r>
                        <a:rPr lang="en-US" sz="1600" dirty="0">
                          <a:solidFill>
                            <a:srgbClr val="14213D"/>
                          </a:solidFill>
                        </a:rPr>
                        <a:t>Evidence scale</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1600" dirty="0">
                          <a:solidFill>
                            <a:srgbClr val="14213D"/>
                          </a:solidFill>
                        </a:rPr>
                        <a:t>Likelihood ratio to points, base 2.08 (Tavtigian 2018); band from the conservative bound</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r>
              <a:tr h="603504">
                <a:tc>
                  <a:txBody>
                    <a:bodyPr/>
                    <a:lstStyle/>
                    <a:p>
                      <a:pPr indent="0" marL="0">
                        <a:buNone/>
                      </a:pPr>
                      <a:r>
                        <a:rPr lang="en-US" sz="1600" dirty="0">
                          <a:solidFill>
                            <a:srgbClr val="14213D"/>
                          </a:solidFill>
                        </a:rPr>
                        <a:t>Samples</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c>
                  <a:txBody>
                    <a:bodyPr/>
                    <a:lstStyle/>
                    <a:p>
                      <a:pPr indent="0" marL="0">
                        <a:buNone/>
                      </a:pPr>
                      <a:r>
                        <a:rPr lang="en-US" sz="1600" dirty="0">
                          <a:solidFill>
                            <a:srgbClr val="14213D"/>
                          </a:solidFill>
                        </a:rPr>
                        <a:t>3,732 harvested, 1,622 retained, 2,110 excluded</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FFFFF"/>
                    </a:solidFill>
                  </a:tcPr>
                </a:tc>
              </a:tr>
              <a:tr h="603504">
                <a:tc>
                  <a:txBody>
                    <a:bodyPr/>
                    <a:lstStyle/>
                    <a:p>
                      <a:pPr indent="0" marL="0">
                        <a:buNone/>
                      </a:pPr>
                      <a:r>
                        <a:rPr lang="en-US" sz="1600" dirty="0">
                          <a:solidFill>
                            <a:srgbClr val="14213D"/>
                          </a:solidFill>
                        </a:rPr>
                        <a:t>Disease datasets (GEO)</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c>
                  <a:txBody>
                    <a:bodyPr/>
                    <a:lstStyle/>
                    <a:p>
                      <a:pPr indent="0" marL="0">
                        <a:buNone/>
                      </a:pPr>
                      <a:r>
                        <a:rPr lang="en-US" sz="1600" dirty="0">
                          <a:solidFill>
                            <a:srgbClr val="14213D"/>
                          </a:solidFill>
                        </a:rPr>
                        <a:t>GSE74432, GSE104451, GSE55491, GSE116300, GSE97362, GSE66552, GSE95040, GSE108423, GSE116992, GSE125367, GSE52588</a:t>
                      </a:r>
                      <a:endParaRPr lang="en-US" sz="1600" dirty="0"/>
                    </a:p>
                  </a:txBody>
                  <a:tcPr marL="101600" marR="101600" marT="50800" marB="5080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rgbClr val="F1F4F9"/>
                    </a:solidFill>
                  </a:tcPr>
                </a:tc>
              </a:tr>
            </a:tbl>
          </a:graphicData>
        </a:graphic>
      </p:graphicFrame>
      <p:sp>
        <p:nvSpPr>
          <p:cNvPr id="25" name="Slide Number Placeholder 0"/>
          <p:cNvSpPr>
            <a:spLocks noGrp="1"/>
          </p:cNvSpPr>
          <p:nvPr>
            <p:ph type="sldNum" sz="quarter" idx="4294967295"/>
          </p:nvPr>
        </p:nvSpPr>
        <p:spPr>
          <a:xfrm>
            <a:off x="11274552" y="640080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984"/>
                </a:solidFil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EpiGrade">
  <a:themeElements>
    <a:clrScheme name="EpiGrade">
      <a:dk1>
        <a:srgbClr val="14213D"/>
      </a:dk1>
      <a:lt1>
        <a:srgbClr val="FFFFFF"/>
      </a:lt1>
      <a:dk2>
        <a:srgbClr val="3D4A63"/>
      </a:dk2>
      <a:lt2>
        <a:srgbClr val="F1F4F9"/>
      </a:lt2>
      <a:accent1>
        <a:srgbClr val="2A78D6"/>
      </a:accent1>
      <a:accent2>
        <a:srgbClr val="EB6834"/>
      </a:accent2>
      <a:accent3>
        <a:srgbClr val="1BAF7A"/>
      </a:accent3>
      <a:accent4>
        <a:srgbClr val="8A8984"/>
      </a:accent4>
      <a:accent5>
        <a:srgbClr val="0D366B"/>
      </a:accent5>
      <a:accent6>
        <a:srgbClr val="D03B3B"/>
      </a:accent6>
      <a:hlink>
        <a:srgbClr val="2A78D6"/>
      </a:hlink>
      <a:folHlink>
        <a:srgbClr val="4A3AA7"/>
      </a:folHlink>
    </a:clrScheme>
    <a:fontScheme name="EpiGr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EpiGrade: an open, reproducible benchmark for episignature classifiers</dc:title>
  <dc:subject>PptxGenJS Presentation</dc:subject>
  <dc:creator>Upasana Bhaumik, Samhitaa Saravanakumar, Divyanjali Tyagi</dc:creator>
  <cp:lastModifiedBy>Upasana Bhaumik, Samhitaa Saravanakumar, Divyanjali Tyagi</cp:lastModifiedBy>
  <cp:revision>1</cp:revision>
  <dcterms:created xsi:type="dcterms:W3CDTF">2026-10-10T07:27:33Z</dcterms:created>
  <dcterms:modified xsi:type="dcterms:W3CDTF">2026-10-10T07:27:33Z</dcterms:modified>
</cp:coreProperties>
</file>